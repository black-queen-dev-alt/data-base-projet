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24616C-BB49-454A-97C0-5DE0728071C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C31113-32F2-40A9-BF5D-5E5009119912}">
      <dgm:prSet/>
      <dgm:spPr/>
      <dgm:t>
        <a:bodyPr/>
        <a:lstStyle/>
        <a:p>
          <a:pPr>
            <a:defRPr b="1"/>
          </a:pPr>
          <a:r>
            <a:rPr lang="en-US" b="1"/>
            <a:t>System Description:</a:t>
          </a:r>
          <a:r>
            <a:rPr lang="en-US"/>
            <a:t> Complete university management system</a:t>
          </a:r>
        </a:p>
      </dgm:t>
    </dgm:pt>
    <dgm:pt modelId="{18570250-4AAB-453A-AE68-348EB60EFF51}" type="parTrans" cxnId="{2E4CA624-1F10-494B-92CE-CB1992A5C848}">
      <dgm:prSet/>
      <dgm:spPr/>
      <dgm:t>
        <a:bodyPr/>
        <a:lstStyle/>
        <a:p>
          <a:endParaRPr lang="en-US"/>
        </a:p>
      </dgm:t>
    </dgm:pt>
    <dgm:pt modelId="{AAC7A265-9B99-45F9-B732-E2704A6BF85D}" type="sibTrans" cxnId="{2E4CA624-1F10-494B-92CE-CB1992A5C848}">
      <dgm:prSet/>
      <dgm:spPr/>
      <dgm:t>
        <a:bodyPr/>
        <a:lstStyle/>
        <a:p>
          <a:endParaRPr lang="en-US"/>
        </a:p>
      </dgm:t>
    </dgm:pt>
    <dgm:pt modelId="{B6385DEB-AD7A-443B-8921-97457A8F3ACE}">
      <dgm:prSet/>
      <dgm:spPr/>
      <dgm:t>
        <a:bodyPr/>
        <a:lstStyle/>
        <a:p>
          <a:pPr>
            <a:defRPr b="1"/>
          </a:pPr>
          <a:r>
            <a:rPr lang="en-US" b="1"/>
            <a:t>Objectives:</a:t>
          </a:r>
          <a:endParaRPr lang="en-US"/>
        </a:p>
      </dgm:t>
    </dgm:pt>
    <dgm:pt modelId="{9B66AB86-6FFB-4C5E-A383-B2699B630500}" type="parTrans" cxnId="{85529B62-1157-4D77-A43A-E5B133572C7D}">
      <dgm:prSet/>
      <dgm:spPr/>
      <dgm:t>
        <a:bodyPr/>
        <a:lstStyle/>
        <a:p>
          <a:endParaRPr lang="en-US"/>
        </a:p>
      </dgm:t>
    </dgm:pt>
    <dgm:pt modelId="{B9CC9965-F440-4FF6-A7D8-57860F62BD06}" type="sibTrans" cxnId="{85529B62-1157-4D77-A43A-E5B133572C7D}">
      <dgm:prSet/>
      <dgm:spPr/>
      <dgm:t>
        <a:bodyPr/>
        <a:lstStyle/>
        <a:p>
          <a:endParaRPr lang="en-US"/>
        </a:p>
      </dgm:t>
    </dgm:pt>
    <dgm:pt modelId="{56584DD8-4716-4B54-AA8A-E1B1A0C15644}">
      <dgm:prSet/>
      <dgm:spPr/>
      <dgm:t>
        <a:bodyPr/>
        <a:lstStyle/>
        <a:p>
          <a:r>
            <a:rPr lang="en-US"/>
            <a:t>Manage students, teachers, courses, departments</a:t>
          </a:r>
        </a:p>
      </dgm:t>
    </dgm:pt>
    <dgm:pt modelId="{5E950AB9-E46B-4A24-AA4E-4D284C73B53A}" type="parTrans" cxnId="{E8FE5E0E-96D9-4EF8-B2A3-4C3BE014E7B8}">
      <dgm:prSet/>
      <dgm:spPr/>
      <dgm:t>
        <a:bodyPr/>
        <a:lstStyle/>
        <a:p>
          <a:endParaRPr lang="en-US"/>
        </a:p>
      </dgm:t>
    </dgm:pt>
    <dgm:pt modelId="{28270B88-5846-4310-8701-95FD7393CB0F}" type="sibTrans" cxnId="{E8FE5E0E-96D9-4EF8-B2A3-4C3BE014E7B8}">
      <dgm:prSet/>
      <dgm:spPr/>
      <dgm:t>
        <a:bodyPr/>
        <a:lstStyle/>
        <a:p>
          <a:endParaRPr lang="en-US"/>
        </a:p>
      </dgm:t>
    </dgm:pt>
    <dgm:pt modelId="{FEFE101A-4022-47A2-853A-2398078CF705}">
      <dgm:prSet/>
      <dgm:spPr/>
      <dgm:t>
        <a:bodyPr/>
        <a:lstStyle/>
        <a:p>
          <a:r>
            <a:rPr lang="en-US"/>
            <a:t>Track enrollments and grades</a:t>
          </a:r>
        </a:p>
      </dgm:t>
    </dgm:pt>
    <dgm:pt modelId="{183AE682-53BC-44AF-923B-A6D4B6747A61}" type="parTrans" cxnId="{F1421CD7-9289-4D24-A72A-8D003E81F5DC}">
      <dgm:prSet/>
      <dgm:spPr/>
      <dgm:t>
        <a:bodyPr/>
        <a:lstStyle/>
        <a:p>
          <a:endParaRPr lang="en-US"/>
        </a:p>
      </dgm:t>
    </dgm:pt>
    <dgm:pt modelId="{070640C4-1B88-4DB8-9328-C7D6324508B1}" type="sibTrans" cxnId="{F1421CD7-9289-4D24-A72A-8D003E81F5DC}">
      <dgm:prSet/>
      <dgm:spPr/>
      <dgm:t>
        <a:bodyPr/>
        <a:lstStyle/>
        <a:p>
          <a:endParaRPr lang="en-US"/>
        </a:p>
      </dgm:t>
    </dgm:pt>
    <dgm:pt modelId="{0D0FAA36-5C68-45AB-A703-2021B5F7D1BB}">
      <dgm:prSet/>
      <dgm:spPr/>
      <dgm:t>
        <a:bodyPr/>
        <a:lstStyle/>
        <a:p>
          <a:r>
            <a:rPr lang="en-US"/>
            <a:t>Generate academic reports</a:t>
          </a:r>
        </a:p>
      </dgm:t>
    </dgm:pt>
    <dgm:pt modelId="{E71614BE-1861-4F1D-A4EB-1023F99BC43C}" type="parTrans" cxnId="{79A1D60B-C681-45A0-AC59-28C9F5E753E0}">
      <dgm:prSet/>
      <dgm:spPr/>
      <dgm:t>
        <a:bodyPr/>
        <a:lstStyle/>
        <a:p>
          <a:endParaRPr lang="en-US"/>
        </a:p>
      </dgm:t>
    </dgm:pt>
    <dgm:pt modelId="{7EE54577-0692-4647-B8B6-C864D13768C4}" type="sibTrans" cxnId="{79A1D60B-C681-45A0-AC59-28C9F5E753E0}">
      <dgm:prSet/>
      <dgm:spPr/>
      <dgm:t>
        <a:bodyPr/>
        <a:lstStyle/>
        <a:p>
          <a:endParaRPr lang="en-US"/>
        </a:p>
      </dgm:t>
    </dgm:pt>
    <dgm:pt modelId="{A750E9CA-E030-475D-87C8-6A19B01137B0}">
      <dgm:prSet/>
      <dgm:spPr/>
      <dgm:t>
        <a:bodyPr/>
        <a:lstStyle/>
        <a:p>
          <a:pPr>
            <a:defRPr b="1"/>
          </a:pPr>
          <a:r>
            <a:rPr lang="en-US" b="1"/>
            <a:t>Users:</a:t>
          </a:r>
          <a:r>
            <a:rPr lang="en-US"/>
            <a:t> Administration, teachers, students</a:t>
          </a:r>
        </a:p>
      </dgm:t>
    </dgm:pt>
    <dgm:pt modelId="{A68A1C66-A9D4-49F8-BF01-43DFF52C0BD4}" type="parTrans" cxnId="{4B2FA2EE-4D28-47EE-AC66-765E6699816B}">
      <dgm:prSet/>
      <dgm:spPr/>
      <dgm:t>
        <a:bodyPr/>
        <a:lstStyle/>
        <a:p>
          <a:endParaRPr lang="en-US"/>
        </a:p>
      </dgm:t>
    </dgm:pt>
    <dgm:pt modelId="{58093E8F-1F2C-4481-B510-F6AA15DC7491}" type="sibTrans" cxnId="{4B2FA2EE-4D28-47EE-AC66-765E6699816B}">
      <dgm:prSet/>
      <dgm:spPr/>
      <dgm:t>
        <a:bodyPr/>
        <a:lstStyle/>
        <a:p>
          <a:endParaRPr lang="en-US"/>
        </a:p>
      </dgm:t>
    </dgm:pt>
    <dgm:pt modelId="{EADC4D37-FB34-4852-990A-D1B53C9B3FB1}">
      <dgm:prSet/>
      <dgm:spPr/>
      <dgm:t>
        <a:bodyPr/>
        <a:lstStyle/>
        <a:p>
          <a:pPr>
            <a:defRPr b="1"/>
          </a:pPr>
          <a:r>
            <a:rPr lang="en-US" b="1"/>
            <a:t>Key Features:</a:t>
          </a:r>
          <a:endParaRPr lang="en-US"/>
        </a:p>
      </dgm:t>
    </dgm:pt>
    <dgm:pt modelId="{BC1F5DA9-26AF-42C1-8648-F45DFBDBE1EE}" type="parTrans" cxnId="{F9368296-2715-47EA-8FAE-C3EFB403EB69}">
      <dgm:prSet/>
      <dgm:spPr/>
      <dgm:t>
        <a:bodyPr/>
        <a:lstStyle/>
        <a:p>
          <a:endParaRPr lang="en-US"/>
        </a:p>
      </dgm:t>
    </dgm:pt>
    <dgm:pt modelId="{6C44B2BB-6E06-4FB7-A1C5-9C3FC1FE55A5}" type="sibTrans" cxnId="{F9368296-2715-47EA-8FAE-C3EFB403EB69}">
      <dgm:prSet/>
      <dgm:spPr/>
      <dgm:t>
        <a:bodyPr/>
        <a:lstStyle/>
        <a:p>
          <a:endParaRPr lang="en-US"/>
        </a:p>
      </dgm:t>
    </dgm:pt>
    <dgm:pt modelId="{02059B6D-5E8E-4B8D-A89A-9ED629CC6C69}">
      <dgm:prSet/>
      <dgm:spPr/>
      <dgm:t>
        <a:bodyPr/>
        <a:lstStyle/>
        <a:p>
          <a:r>
            <a:rPr lang="en-US"/>
            <a:t>Student registration</a:t>
          </a:r>
        </a:p>
      </dgm:t>
    </dgm:pt>
    <dgm:pt modelId="{D72A9F84-60FB-4D55-8790-C6029F22B60B}" type="parTrans" cxnId="{F84A621B-94B6-40D1-BB29-C1776B8CAC94}">
      <dgm:prSet/>
      <dgm:spPr/>
      <dgm:t>
        <a:bodyPr/>
        <a:lstStyle/>
        <a:p>
          <a:endParaRPr lang="en-US"/>
        </a:p>
      </dgm:t>
    </dgm:pt>
    <dgm:pt modelId="{069D4C43-1683-4CF3-B907-B0545CD87EE8}" type="sibTrans" cxnId="{F84A621B-94B6-40D1-BB29-C1776B8CAC94}">
      <dgm:prSet/>
      <dgm:spPr/>
      <dgm:t>
        <a:bodyPr/>
        <a:lstStyle/>
        <a:p>
          <a:endParaRPr lang="en-US"/>
        </a:p>
      </dgm:t>
    </dgm:pt>
    <dgm:pt modelId="{D02C82AA-FAAF-4C61-B60E-BD523C9DAD66}">
      <dgm:prSet/>
      <dgm:spPr/>
      <dgm:t>
        <a:bodyPr/>
        <a:lstStyle/>
        <a:p>
          <a:r>
            <a:rPr lang="en-US"/>
            <a:t>Course management</a:t>
          </a:r>
        </a:p>
      </dgm:t>
    </dgm:pt>
    <dgm:pt modelId="{03079FEF-5675-4220-B46E-411E4190A615}" type="parTrans" cxnId="{0D92E201-7A86-4819-99AA-7A796CCA74F9}">
      <dgm:prSet/>
      <dgm:spPr/>
      <dgm:t>
        <a:bodyPr/>
        <a:lstStyle/>
        <a:p>
          <a:endParaRPr lang="en-US"/>
        </a:p>
      </dgm:t>
    </dgm:pt>
    <dgm:pt modelId="{9B0EADA1-DEED-4C98-A929-7092B103D27E}" type="sibTrans" cxnId="{0D92E201-7A86-4819-99AA-7A796CCA74F9}">
      <dgm:prSet/>
      <dgm:spPr/>
      <dgm:t>
        <a:bodyPr/>
        <a:lstStyle/>
        <a:p>
          <a:endParaRPr lang="en-US"/>
        </a:p>
      </dgm:t>
    </dgm:pt>
    <dgm:pt modelId="{D390EDD4-4651-408C-8186-5322D575FC55}">
      <dgm:prSet/>
      <dgm:spPr/>
      <dgm:t>
        <a:bodyPr/>
        <a:lstStyle/>
        <a:p>
          <a:r>
            <a:rPr lang="en-US"/>
            <a:t>Grade recording</a:t>
          </a:r>
        </a:p>
      </dgm:t>
    </dgm:pt>
    <dgm:pt modelId="{E242F972-77F7-4F83-B14A-375123202240}" type="parTrans" cxnId="{8C99E5CC-152D-41A3-84B0-5B3272FA8D10}">
      <dgm:prSet/>
      <dgm:spPr/>
      <dgm:t>
        <a:bodyPr/>
        <a:lstStyle/>
        <a:p>
          <a:endParaRPr lang="en-US"/>
        </a:p>
      </dgm:t>
    </dgm:pt>
    <dgm:pt modelId="{4429F59C-E98C-4967-9065-7F6E9F31B3CD}" type="sibTrans" cxnId="{8C99E5CC-152D-41A3-84B0-5B3272FA8D10}">
      <dgm:prSet/>
      <dgm:spPr/>
      <dgm:t>
        <a:bodyPr/>
        <a:lstStyle/>
        <a:p>
          <a:endParaRPr lang="en-US"/>
        </a:p>
      </dgm:t>
    </dgm:pt>
    <dgm:pt modelId="{490207F5-85EE-4106-99C2-9D8C8BD44A19}">
      <dgm:prSet/>
      <dgm:spPr/>
      <dgm:t>
        <a:bodyPr/>
        <a:lstStyle/>
        <a:p>
          <a:r>
            <a:rPr lang="en-US"/>
            <a:t>Department organization</a:t>
          </a:r>
        </a:p>
      </dgm:t>
    </dgm:pt>
    <dgm:pt modelId="{431374D4-B49D-40F7-900B-F32A6B3F6434}" type="parTrans" cxnId="{08E073A8-F203-4A55-A45E-95CA261C2493}">
      <dgm:prSet/>
      <dgm:spPr/>
      <dgm:t>
        <a:bodyPr/>
        <a:lstStyle/>
        <a:p>
          <a:endParaRPr lang="en-US"/>
        </a:p>
      </dgm:t>
    </dgm:pt>
    <dgm:pt modelId="{3F0E5279-EA84-4989-9E59-10BB69CB375E}" type="sibTrans" cxnId="{08E073A8-F203-4A55-A45E-95CA261C2493}">
      <dgm:prSet/>
      <dgm:spPr/>
      <dgm:t>
        <a:bodyPr/>
        <a:lstStyle/>
        <a:p>
          <a:endParaRPr lang="en-US"/>
        </a:p>
      </dgm:t>
    </dgm:pt>
    <dgm:pt modelId="{BA2FBA62-B1CD-4DFB-BD7E-D3CE6E5F43DA}" type="pres">
      <dgm:prSet presAssocID="{A324616C-BB49-454A-97C0-5DE0728071C8}" presName="root" presStyleCnt="0">
        <dgm:presLayoutVars>
          <dgm:dir/>
          <dgm:resizeHandles val="exact"/>
        </dgm:presLayoutVars>
      </dgm:prSet>
      <dgm:spPr/>
    </dgm:pt>
    <dgm:pt modelId="{1D570ACE-4DB1-4905-B3C1-39C0E0A5ED76}" type="pres">
      <dgm:prSet presAssocID="{F8C31113-32F2-40A9-BF5D-5E5009119912}" presName="compNode" presStyleCnt="0"/>
      <dgm:spPr/>
    </dgm:pt>
    <dgm:pt modelId="{0068A688-C8CB-4679-8017-D616B9482023}" type="pres">
      <dgm:prSet presAssocID="{F8C31113-32F2-40A9-BF5D-5E500911991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AD928CC-A4F5-46D5-B7AD-B4C1C400C8C7}" type="pres">
      <dgm:prSet presAssocID="{F8C31113-32F2-40A9-BF5D-5E5009119912}" presName="iconSpace" presStyleCnt="0"/>
      <dgm:spPr/>
    </dgm:pt>
    <dgm:pt modelId="{3EC1BBBD-AA1D-49AD-920D-7BEE95951DC3}" type="pres">
      <dgm:prSet presAssocID="{F8C31113-32F2-40A9-BF5D-5E5009119912}" presName="parTx" presStyleLbl="revTx" presStyleIdx="0" presStyleCnt="8">
        <dgm:presLayoutVars>
          <dgm:chMax val="0"/>
          <dgm:chPref val="0"/>
        </dgm:presLayoutVars>
      </dgm:prSet>
      <dgm:spPr/>
    </dgm:pt>
    <dgm:pt modelId="{2D69572B-67E0-44D5-849A-731020CDF6A2}" type="pres">
      <dgm:prSet presAssocID="{F8C31113-32F2-40A9-BF5D-5E5009119912}" presName="txSpace" presStyleCnt="0"/>
      <dgm:spPr/>
    </dgm:pt>
    <dgm:pt modelId="{1C95716F-925E-4010-BA89-8B00946CB759}" type="pres">
      <dgm:prSet presAssocID="{F8C31113-32F2-40A9-BF5D-5E5009119912}" presName="desTx" presStyleLbl="revTx" presStyleIdx="1" presStyleCnt="8">
        <dgm:presLayoutVars/>
      </dgm:prSet>
      <dgm:spPr/>
    </dgm:pt>
    <dgm:pt modelId="{497B27D0-3D54-4DF3-AFAE-9E0A5FBF4EA0}" type="pres">
      <dgm:prSet presAssocID="{AAC7A265-9B99-45F9-B732-E2704A6BF85D}" presName="sibTrans" presStyleCnt="0"/>
      <dgm:spPr/>
    </dgm:pt>
    <dgm:pt modelId="{48CC9A9B-0A4A-4C94-95B1-AB9AC3EAE55C}" type="pres">
      <dgm:prSet presAssocID="{B6385DEB-AD7A-443B-8921-97457A8F3ACE}" presName="compNode" presStyleCnt="0"/>
      <dgm:spPr/>
    </dgm:pt>
    <dgm:pt modelId="{537BD774-2294-4C43-BC88-99C77DEEC490}" type="pres">
      <dgm:prSet presAssocID="{B6385DEB-AD7A-443B-8921-97457A8F3A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745598E-16B2-47B1-A8C6-542BB89D9199}" type="pres">
      <dgm:prSet presAssocID="{B6385DEB-AD7A-443B-8921-97457A8F3ACE}" presName="iconSpace" presStyleCnt="0"/>
      <dgm:spPr/>
    </dgm:pt>
    <dgm:pt modelId="{4CE60D30-31B8-47EC-A1BA-E5237DCCA3B8}" type="pres">
      <dgm:prSet presAssocID="{B6385DEB-AD7A-443B-8921-97457A8F3ACE}" presName="parTx" presStyleLbl="revTx" presStyleIdx="2" presStyleCnt="8">
        <dgm:presLayoutVars>
          <dgm:chMax val="0"/>
          <dgm:chPref val="0"/>
        </dgm:presLayoutVars>
      </dgm:prSet>
      <dgm:spPr/>
    </dgm:pt>
    <dgm:pt modelId="{6D7BFB16-2DFB-4291-A4C2-0C37DFAD019D}" type="pres">
      <dgm:prSet presAssocID="{B6385DEB-AD7A-443B-8921-97457A8F3ACE}" presName="txSpace" presStyleCnt="0"/>
      <dgm:spPr/>
    </dgm:pt>
    <dgm:pt modelId="{E9E1FB0A-11C2-4DB2-A921-9BD7EEDCE5B9}" type="pres">
      <dgm:prSet presAssocID="{B6385DEB-AD7A-443B-8921-97457A8F3ACE}" presName="desTx" presStyleLbl="revTx" presStyleIdx="3" presStyleCnt="8">
        <dgm:presLayoutVars/>
      </dgm:prSet>
      <dgm:spPr/>
    </dgm:pt>
    <dgm:pt modelId="{A78034B5-408C-4711-A0AD-C6733D7975B6}" type="pres">
      <dgm:prSet presAssocID="{B9CC9965-F440-4FF6-A7D8-57860F62BD06}" presName="sibTrans" presStyleCnt="0"/>
      <dgm:spPr/>
    </dgm:pt>
    <dgm:pt modelId="{39E6DD5A-2689-4D1D-93A5-9C17487782D2}" type="pres">
      <dgm:prSet presAssocID="{A750E9CA-E030-475D-87C8-6A19B01137B0}" presName="compNode" presStyleCnt="0"/>
      <dgm:spPr/>
    </dgm:pt>
    <dgm:pt modelId="{AC66D1B7-1CF5-4278-8A27-5B3879776719}" type="pres">
      <dgm:prSet presAssocID="{A750E9CA-E030-475D-87C8-6A19B01137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86231CCD-115E-48AE-B4A4-6188C160EC67}" type="pres">
      <dgm:prSet presAssocID="{A750E9CA-E030-475D-87C8-6A19B01137B0}" presName="iconSpace" presStyleCnt="0"/>
      <dgm:spPr/>
    </dgm:pt>
    <dgm:pt modelId="{1B585BEA-8FBD-4086-8C3B-222846D3734E}" type="pres">
      <dgm:prSet presAssocID="{A750E9CA-E030-475D-87C8-6A19B01137B0}" presName="parTx" presStyleLbl="revTx" presStyleIdx="4" presStyleCnt="8">
        <dgm:presLayoutVars>
          <dgm:chMax val="0"/>
          <dgm:chPref val="0"/>
        </dgm:presLayoutVars>
      </dgm:prSet>
      <dgm:spPr/>
    </dgm:pt>
    <dgm:pt modelId="{D6C76914-097C-421B-B177-0FABC06D9B37}" type="pres">
      <dgm:prSet presAssocID="{A750E9CA-E030-475D-87C8-6A19B01137B0}" presName="txSpace" presStyleCnt="0"/>
      <dgm:spPr/>
    </dgm:pt>
    <dgm:pt modelId="{3EB5E440-6EC1-40D1-933A-F5421834CFBB}" type="pres">
      <dgm:prSet presAssocID="{A750E9CA-E030-475D-87C8-6A19B01137B0}" presName="desTx" presStyleLbl="revTx" presStyleIdx="5" presStyleCnt="8">
        <dgm:presLayoutVars/>
      </dgm:prSet>
      <dgm:spPr/>
    </dgm:pt>
    <dgm:pt modelId="{0120C1EF-883B-4DDE-A4D2-9D1181BA4F5F}" type="pres">
      <dgm:prSet presAssocID="{58093E8F-1F2C-4481-B510-F6AA15DC7491}" presName="sibTrans" presStyleCnt="0"/>
      <dgm:spPr/>
    </dgm:pt>
    <dgm:pt modelId="{8CFF328C-E122-4404-96A9-AE7B8E89DE50}" type="pres">
      <dgm:prSet presAssocID="{EADC4D37-FB34-4852-990A-D1B53C9B3FB1}" presName="compNode" presStyleCnt="0"/>
      <dgm:spPr/>
    </dgm:pt>
    <dgm:pt modelId="{D716D9B1-7F48-4640-8E6D-3E2C1AD4EE2E}" type="pres">
      <dgm:prSet presAssocID="{EADC4D37-FB34-4852-990A-D1B53C9B3FB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E906ABB-D7EE-47C1-9CC6-5B1A551A2CDA}" type="pres">
      <dgm:prSet presAssocID="{EADC4D37-FB34-4852-990A-D1B53C9B3FB1}" presName="iconSpace" presStyleCnt="0"/>
      <dgm:spPr/>
    </dgm:pt>
    <dgm:pt modelId="{DEBA58BA-3D4F-42A2-BE57-8CFB8D9CC0C4}" type="pres">
      <dgm:prSet presAssocID="{EADC4D37-FB34-4852-990A-D1B53C9B3FB1}" presName="parTx" presStyleLbl="revTx" presStyleIdx="6" presStyleCnt="8">
        <dgm:presLayoutVars>
          <dgm:chMax val="0"/>
          <dgm:chPref val="0"/>
        </dgm:presLayoutVars>
      </dgm:prSet>
      <dgm:spPr/>
    </dgm:pt>
    <dgm:pt modelId="{2C82E169-83D7-4ED7-BC9D-A8552CF48451}" type="pres">
      <dgm:prSet presAssocID="{EADC4D37-FB34-4852-990A-D1B53C9B3FB1}" presName="txSpace" presStyleCnt="0"/>
      <dgm:spPr/>
    </dgm:pt>
    <dgm:pt modelId="{D4D227FC-BEEE-4021-8545-D71B5D743D92}" type="pres">
      <dgm:prSet presAssocID="{EADC4D37-FB34-4852-990A-D1B53C9B3FB1}" presName="desTx" presStyleLbl="revTx" presStyleIdx="7" presStyleCnt="8">
        <dgm:presLayoutVars/>
      </dgm:prSet>
      <dgm:spPr/>
    </dgm:pt>
  </dgm:ptLst>
  <dgm:cxnLst>
    <dgm:cxn modelId="{0D92E201-7A86-4819-99AA-7A796CCA74F9}" srcId="{EADC4D37-FB34-4852-990A-D1B53C9B3FB1}" destId="{D02C82AA-FAAF-4C61-B60E-BD523C9DAD66}" srcOrd="1" destOrd="0" parTransId="{03079FEF-5675-4220-B46E-411E4190A615}" sibTransId="{9B0EADA1-DEED-4C98-A929-7092B103D27E}"/>
    <dgm:cxn modelId="{79A1D60B-C681-45A0-AC59-28C9F5E753E0}" srcId="{B6385DEB-AD7A-443B-8921-97457A8F3ACE}" destId="{0D0FAA36-5C68-45AB-A703-2021B5F7D1BB}" srcOrd="2" destOrd="0" parTransId="{E71614BE-1861-4F1D-A4EB-1023F99BC43C}" sibTransId="{7EE54577-0692-4647-B8B6-C864D13768C4}"/>
    <dgm:cxn modelId="{E8FE5E0E-96D9-4EF8-B2A3-4C3BE014E7B8}" srcId="{B6385DEB-AD7A-443B-8921-97457A8F3ACE}" destId="{56584DD8-4716-4B54-AA8A-E1B1A0C15644}" srcOrd="0" destOrd="0" parTransId="{5E950AB9-E46B-4A24-AA4E-4D284C73B53A}" sibTransId="{28270B88-5846-4310-8701-95FD7393CB0F}"/>
    <dgm:cxn modelId="{0A3DC313-FE4E-4E63-A6CD-BF2E2EF9CB6C}" type="presOf" srcId="{A750E9CA-E030-475D-87C8-6A19B01137B0}" destId="{1B585BEA-8FBD-4086-8C3B-222846D3734E}" srcOrd="0" destOrd="0" presId="urn:microsoft.com/office/officeart/2018/2/layout/IconLabelDescriptionList"/>
    <dgm:cxn modelId="{F84A621B-94B6-40D1-BB29-C1776B8CAC94}" srcId="{EADC4D37-FB34-4852-990A-D1B53C9B3FB1}" destId="{02059B6D-5E8E-4B8D-A89A-9ED629CC6C69}" srcOrd="0" destOrd="0" parTransId="{D72A9F84-60FB-4D55-8790-C6029F22B60B}" sibTransId="{069D4C43-1683-4CF3-B907-B0545CD87EE8}"/>
    <dgm:cxn modelId="{2E4CA624-1F10-494B-92CE-CB1992A5C848}" srcId="{A324616C-BB49-454A-97C0-5DE0728071C8}" destId="{F8C31113-32F2-40A9-BF5D-5E5009119912}" srcOrd="0" destOrd="0" parTransId="{18570250-4AAB-453A-AE68-348EB60EFF51}" sibTransId="{AAC7A265-9B99-45F9-B732-E2704A6BF85D}"/>
    <dgm:cxn modelId="{577EBA24-5DA4-43AE-8744-CCC508C2CB04}" type="presOf" srcId="{EADC4D37-FB34-4852-990A-D1B53C9B3FB1}" destId="{DEBA58BA-3D4F-42A2-BE57-8CFB8D9CC0C4}" srcOrd="0" destOrd="0" presId="urn:microsoft.com/office/officeart/2018/2/layout/IconLabelDescriptionList"/>
    <dgm:cxn modelId="{89679A2C-0486-4CB1-A40B-BCB9EAA49CE8}" type="presOf" srcId="{FEFE101A-4022-47A2-853A-2398078CF705}" destId="{E9E1FB0A-11C2-4DB2-A921-9BD7EEDCE5B9}" srcOrd="0" destOrd="1" presId="urn:microsoft.com/office/officeart/2018/2/layout/IconLabelDescriptionList"/>
    <dgm:cxn modelId="{85529B62-1157-4D77-A43A-E5B133572C7D}" srcId="{A324616C-BB49-454A-97C0-5DE0728071C8}" destId="{B6385DEB-AD7A-443B-8921-97457A8F3ACE}" srcOrd="1" destOrd="0" parTransId="{9B66AB86-6FFB-4C5E-A383-B2699B630500}" sibTransId="{B9CC9965-F440-4FF6-A7D8-57860F62BD06}"/>
    <dgm:cxn modelId="{36B0D049-E512-4F88-BFD0-D113D37633E0}" type="presOf" srcId="{B6385DEB-AD7A-443B-8921-97457A8F3ACE}" destId="{4CE60D30-31B8-47EC-A1BA-E5237DCCA3B8}" srcOrd="0" destOrd="0" presId="urn:microsoft.com/office/officeart/2018/2/layout/IconLabelDescriptionList"/>
    <dgm:cxn modelId="{D0EF214A-64F1-44CF-91BB-6151AB5286D5}" type="presOf" srcId="{A324616C-BB49-454A-97C0-5DE0728071C8}" destId="{BA2FBA62-B1CD-4DFB-BD7E-D3CE6E5F43DA}" srcOrd="0" destOrd="0" presId="urn:microsoft.com/office/officeart/2018/2/layout/IconLabelDescriptionList"/>
    <dgm:cxn modelId="{A457BC4A-A9EF-4270-93EB-E5FB2BD277DE}" type="presOf" srcId="{D02C82AA-FAAF-4C61-B60E-BD523C9DAD66}" destId="{D4D227FC-BEEE-4021-8545-D71B5D743D92}" srcOrd="0" destOrd="1" presId="urn:microsoft.com/office/officeart/2018/2/layout/IconLabelDescriptionList"/>
    <dgm:cxn modelId="{FE2C9C57-422A-4566-8756-D65FC91AE836}" type="presOf" srcId="{D390EDD4-4651-408C-8186-5322D575FC55}" destId="{D4D227FC-BEEE-4021-8545-D71B5D743D92}" srcOrd="0" destOrd="2" presId="urn:microsoft.com/office/officeart/2018/2/layout/IconLabelDescriptionList"/>
    <dgm:cxn modelId="{F9368296-2715-47EA-8FAE-C3EFB403EB69}" srcId="{A324616C-BB49-454A-97C0-5DE0728071C8}" destId="{EADC4D37-FB34-4852-990A-D1B53C9B3FB1}" srcOrd="3" destOrd="0" parTransId="{BC1F5DA9-26AF-42C1-8648-F45DFBDBE1EE}" sibTransId="{6C44B2BB-6E06-4FB7-A1C5-9C3FC1FE55A5}"/>
    <dgm:cxn modelId="{DDBA3698-D090-42E9-95A8-720174AF5969}" type="presOf" srcId="{490207F5-85EE-4106-99C2-9D8C8BD44A19}" destId="{D4D227FC-BEEE-4021-8545-D71B5D743D92}" srcOrd="0" destOrd="3" presId="urn:microsoft.com/office/officeart/2018/2/layout/IconLabelDescriptionList"/>
    <dgm:cxn modelId="{08E073A8-F203-4A55-A45E-95CA261C2493}" srcId="{EADC4D37-FB34-4852-990A-D1B53C9B3FB1}" destId="{490207F5-85EE-4106-99C2-9D8C8BD44A19}" srcOrd="3" destOrd="0" parTransId="{431374D4-B49D-40F7-900B-F32A6B3F6434}" sibTransId="{3F0E5279-EA84-4989-9E59-10BB69CB375E}"/>
    <dgm:cxn modelId="{CE36D5CC-7A59-4039-A8BF-4676C414732E}" type="presOf" srcId="{0D0FAA36-5C68-45AB-A703-2021B5F7D1BB}" destId="{E9E1FB0A-11C2-4DB2-A921-9BD7EEDCE5B9}" srcOrd="0" destOrd="2" presId="urn:microsoft.com/office/officeart/2018/2/layout/IconLabelDescriptionList"/>
    <dgm:cxn modelId="{8C99E5CC-152D-41A3-84B0-5B3272FA8D10}" srcId="{EADC4D37-FB34-4852-990A-D1B53C9B3FB1}" destId="{D390EDD4-4651-408C-8186-5322D575FC55}" srcOrd="2" destOrd="0" parTransId="{E242F972-77F7-4F83-B14A-375123202240}" sibTransId="{4429F59C-E98C-4967-9065-7F6E9F31B3CD}"/>
    <dgm:cxn modelId="{F1421CD7-9289-4D24-A72A-8D003E81F5DC}" srcId="{B6385DEB-AD7A-443B-8921-97457A8F3ACE}" destId="{FEFE101A-4022-47A2-853A-2398078CF705}" srcOrd="1" destOrd="0" parTransId="{183AE682-53BC-44AF-923B-A6D4B6747A61}" sibTransId="{070640C4-1B88-4DB8-9328-C7D6324508B1}"/>
    <dgm:cxn modelId="{181922E9-3DDB-40A6-AFF7-1A3E5D07BDD4}" type="presOf" srcId="{56584DD8-4716-4B54-AA8A-E1B1A0C15644}" destId="{E9E1FB0A-11C2-4DB2-A921-9BD7EEDCE5B9}" srcOrd="0" destOrd="0" presId="urn:microsoft.com/office/officeart/2018/2/layout/IconLabelDescriptionList"/>
    <dgm:cxn modelId="{4B2FA2EE-4D28-47EE-AC66-765E6699816B}" srcId="{A324616C-BB49-454A-97C0-5DE0728071C8}" destId="{A750E9CA-E030-475D-87C8-6A19B01137B0}" srcOrd="2" destOrd="0" parTransId="{A68A1C66-A9D4-49F8-BF01-43DFF52C0BD4}" sibTransId="{58093E8F-1F2C-4481-B510-F6AA15DC7491}"/>
    <dgm:cxn modelId="{E15027F6-6172-42F2-9FEF-26CCB134F540}" type="presOf" srcId="{02059B6D-5E8E-4B8D-A89A-9ED629CC6C69}" destId="{D4D227FC-BEEE-4021-8545-D71B5D743D92}" srcOrd="0" destOrd="0" presId="urn:microsoft.com/office/officeart/2018/2/layout/IconLabelDescriptionList"/>
    <dgm:cxn modelId="{E4DFACFB-211F-44CC-99F2-9AFE1AC2423E}" type="presOf" srcId="{F8C31113-32F2-40A9-BF5D-5E5009119912}" destId="{3EC1BBBD-AA1D-49AD-920D-7BEE95951DC3}" srcOrd="0" destOrd="0" presId="urn:microsoft.com/office/officeart/2018/2/layout/IconLabelDescriptionList"/>
    <dgm:cxn modelId="{A716E75E-E01B-4A48-9400-F47523CEDA35}" type="presParOf" srcId="{BA2FBA62-B1CD-4DFB-BD7E-D3CE6E5F43DA}" destId="{1D570ACE-4DB1-4905-B3C1-39C0E0A5ED76}" srcOrd="0" destOrd="0" presId="urn:microsoft.com/office/officeart/2018/2/layout/IconLabelDescriptionList"/>
    <dgm:cxn modelId="{C08DFB82-6FC4-4849-8126-2F1D022B814C}" type="presParOf" srcId="{1D570ACE-4DB1-4905-B3C1-39C0E0A5ED76}" destId="{0068A688-C8CB-4679-8017-D616B9482023}" srcOrd="0" destOrd="0" presId="urn:microsoft.com/office/officeart/2018/2/layout/IconLabelDescriptionList"/>
    <dgm:cxn modelId="{3ABA4083-92A6-4D5E-956D-DA2D1773CE19}" type="presParOf" srcId="{1D570ACE-4DB1-4905-B3C1-39C0E0A5ED76}" destId="{7AD928CC-A4F5-46D5-B7AD-B4C1C400C8C7}" srcOrd="1" destOrd="0" presId="urn:microsoft.com/office/officeart/2018/2/layout/IconLabelDescriptionList"/>
    <dgm:cxn modelId="{57DC1C0D-D3F7-4740-A26B-8990B59C6D9F}" type="presParOf" srcId="{1D570ACE-4DB1-4905-B3C1-39C0E0A5ED76}" destId="{3EC1BBBD-AA1D-49AD-920D-7BEE95951DC3}" srcOrd="2" destOrd="0" presId="urn:microsoft.com/office/officeart/2018/2/layout/IconLabelDescriptionList"/>
    <dgm:cxn modelId="{F5DD48F6-2DF7-4F54-B060-F33E5AED8933}" type="presParOf" srcId="{1D570ACE-4DB1-4905-B3C1-39C0E0A5ED76}" destId="{2D69572B-67E0-44D5-849A-731020CDF6A2}" srcOrd="3" destOrd="0" presId="urn:microsoft.com/office/officeart/2018/2/layout/IconLabelDescriptionList"/>
    <dgm:cxn modelId="{A1AE3DD9-E9B3-43DD-B510-5CB9A0168039}" type="presParOf" srcId="{1D570ACE-4DB1-4905-B3C1-39C0E0A5ED76}" destId="{1C95716F-925E-4010-BA89-8B00946CB759}" srcOrd="4" destOrd="0" presId="urn:microsoft.com/office/officeart/2018/2/layout/IconLabelDescriptionList"/>
    <dgm:cxn modelId="{1A30FEFF-FF2C-42BA-BAF4-1E21BF1A1EE5}" type="presParOf" srcId="{BA2FBA62-B1CD-4DFB-BD7E-D3CE6E5F43DA}" destId="{497B27D0-3D54-4DF3-AFAE-9E0A5FBF4EA0}" srcOrd="1" destOrd="0" presId="urn:microsoft.com/office/officeart/2018/2/layout/IconLabelDescriptionList"/>
    <dgm:cxn modelId="{3AAFD755-251B-41EE-AFBC-FDA46D47D783}" type="presParOf" srcId="{BA2FBA62-B1CD-4DFB-BD7E-D3CE6E5F43DA}" destId="{48CC9A9B-0A4A-4C94-95B1-AB9AC3EAE55C}" srcOrd="2" destOrd="0" presId="urn:microsoft.com/office/officeart/2018/2/layout/IconLabelDescriptionList"/>
    <dgm:cxn modelId="{C4D36F00-5B8C-4FA8-88F9-D9B9E2A3868B}" type="presParOf" srcId="{48CC9A9B-0A4A-4C94-95B1-AB9AC3EAE55C}" destId="{537BD774-2294-4C43-BC88-99C77DEEC490}" srcOrd="0" destOrd="0" presId="urn:microsoft.com/office/officeart/2018/2/layout/IconLabelDescriptionList"/>
    <dgm:cxn modelId="{88B7AAFC-878E-4775-B3C9-BD0B4CB0CA94}" type="presParOf" srcId="{48CC9A9B-0A4A-4C94-95B1-AB9AC3EAE55C}" destId="{E745598E-16B2-47B1-A8C6-542BB89D9199}" srcOrd="1" destOrd="0" presId="urn:microsoft.com/office/officeart/2018/2/layout/IconLabelDescriptionList"/>
    <dgm:cxn modelId="{D52ADD7C-EC54-4943-99BA-80ADF60FF1F9}" type="presParOf" srcId="{48CC9A9B-0A4A-4C94-95B1-AB9AC3EAE55C}" destId="{4CE60D30-31B8-47EC-A1BA-E5237DCCA3B8}" srcOrd="2" destOrd="0" presId="urn:microsoft.com/office/officeart/2018/2/layout/IconLabelDescriptionList"/>
    <dgm:cxn modelId="{179299DC-EC52-4C2F-A2CE-600CB15108DE}" type="presParOf" srcId="{48CC9A9B-0A4A-4C94-95B1-AB9AC3EAE55C}" destId="{6D7BFB16-2DFB-4291-A4C2-0C37DFAD019D}" srcOrd="3" destOrd="0" presId="urn:microsoft.com/office/officeart/2018/2/layout/IconLabelDescriptionList"/>
    <dgm:cxn modelId="{954A50EA-0728-4243-9243-C944508BA68A}" type="presParOf" srcId="{48CC9A9B-0A4A-4C94-95B1-AB9AC3EAE55C}" destId="{E9E1FB0A-11C2-4DB2-A921-9BD7EEDCE5B9}" srcOrd="4" destOrd="0" presId="urn:microsoft.com/office/officeart/2018/2/layout/IconLabelDescriptionList"/>
    <dgm:cxn modelId="{C4515C6D-CD15-449C-B7D8-228C95A52B79}" type="presParOf" srcId="{BA2FBA62-B1CD-4DFB-BD7E-D3CE6E5F43DA}" destId="{A78034B5-408C-4711-A0AD-C6733D7975B6}" srcOrd="3" destOrd="0" presId="urn:microsoft.com/office/officeart/2018/2/layout/IconLabelDescriptionList"/>
    <dgm:cxn modelId="{9C02BC66-161E-455F-A1F1-61F97AB1BF43}" type="presParOf" srcId="{BA2FBA62-B1CD-4DFB-BD7E-D3CE6E5F43DA}" destId="{39E6DD5A-2689-4D1D-93A5-9C17487782D2}" srcOrd="4" destOrd="0" presId="urn:microsoft.com/office/officeart/2018/2/layout/IconLabelDescriptionList"/>
    <dgm:cxn modelId="{7C2D251B-D9B9-487C-8A5A-C8CFB4D39A4C}" type="presParOf" srcId="{39E6DD5A-2689-4D1D-93A5-9C17487782D2}" destId="{AC66D1B7-1CF5-4278-8A27-5B3879776719}" srcOrd="0" destOrd="0" presId="urn:microsoft.com/office/officeart/2018/2/layout/IconLabelDescriptionList"/>
    <dgm:cxn modelId="{E05F1051-02AF-4B90-810D-70867A9C2CD0}" type="presParOf" srcId="{39E6DD5A-2689-4D1D-93A5-9C17487782D2}" destId="{86231CCD-115E-48AE-B4A4-6188C160EC67}" srcOrd="1" destOrd="0" presId="urn:microsoft.com/office/officeart/2018/2/layout/IconLabelDescriptionList"/>
    <dgm:cxn modelId="{F7E4539A-6CB7-47FA-B083-5F2404B47EFC}" type="presParOf" srcId="{39E6DD5A-2689-4D1D-93A5-9C17487782D2}" destId="{1B585BEA-8FBD-4086-8C3B-222846D3734E}" srcOrd="2" destOrd="0" presId="urn:microsoft.com/office/officeart/2018/2/layout/IconLabelDescriptionList"/>
    <dgm:cxn modelId="{6658315F-7B0F-4483-94E9-508C9549D7C1}" type="presParOf" srcId="{39E6DD5A-2689-4D1D-93A5-9C17487782D2}" destId="{D6C76914-097C-421B-B177-0FABC06D9B37}" srcOrd="3" destOrd="0" presId="urn:microsoft.com/office/officeart/2018/2/layout/IconLabelDescriptionList"/>
    <dgm:cxn modelId="{ABA84ECF-6825-4CB3-B667-C4B29939C711}" type="presParOf" srcId="{39E6DD5A-2689-4D1D-93A5-9C17487782D2}" destId="{3EB5E440-6EC1-40D1-933A-F5421834CFBB}" srcOrd="4" destOrd="0" presId="urn:microsoft.com/office/officeart/2018/2/layout/IconLabelDescriptionList"/>
    <dgm:cxn modelId="{48711197-4200-43F1-90DE-94DCC568F146}" type="presParOf" srcId="{BA2FBA62-B1CD-4DFB-BD7E-D3CE6E5F43DA}" destId="{0120C1EF-883B-4DDE-A4D2-9D1181BA4F5F}" srcOrd="5" destOrd="0" presId="urn:microsoft.com/office/officeart/2018/2/layout/IconLabelDescriptionList"/>
    <dgm:cxn modelId="{7B4C4116-C689-413F-98B3-CC4F717944CC}" type="presParOf" srcId="{BA2FBA62-B1CD-4DFB-BD7E-D3CE6E5F43DA}" destId="{8CFF328C-E122-4404-96A9-AE7B8E89DE50}" srcOrd="6" destOrd="0" presId="urn:microsoft.com/office/officeart/2018/2/layout/IconLabelDescriptionList"/>
    <dgm:cxn modelId="{66F2E39D-828D-4034-9853-F49AF72E1DEB}" type="presParOf" srcId="{8CFF328C-E122-4404-96A9-AE7B8E89DE50}" destId="{D716D9B1-7F48-4640-8E6D-3E2C1AD4EE2E}" srcOrd="0" destOrd="0" presId="urn:microsoft.com/office/officeart/2018/2/layout/IconLabelDescriptionList"/>
    <dgm:cxn modelId="{016A0F7A-28A3-4A18-8F62-B379E87FE12C}" type="presParOf" srcId="{8CFF328C-E122-4404-96A9-AE7B8E89DE50}" destId="{5E906ABB-D7EE-47C1-9CC6-5B1A551A2CDA}" srcOrd="1" destOrd="0" presId="urn:microsoft.com/office/officeart/2018/2/layout/IconLabelDescriptionList"/>
    <dgm:cxn modelId="{7077528B-C672-4A62-993C-F97861B2ED2D}" type="presParOf" srcId="{8CFF328C-E122-4404-96A9-AE7B8E89DE50}" destId="{DEBA58BA-3D4F-42A2-BE57-8CFB8D9CC0C4}" srcOrd="2" destOrd="0" presId="urn:microsoft.com/office/officeart/2018/2/layout/IconLabelDescriptionList"/>
    <dgm:cxn modelId="{BD045642-2FC4-4D8C-9B26-3457888D145B}" type="presParOf" srcId="{8CFF328C-E122-4404-96A9-AE7B8E89DE50}" destId="{2C82E169-83D7-4ED7-BC9D-A8552CF48451}" srcOrd="3" destOrd="0" presId="urn:microsoft.com/office/officeart/2018/2/layout/IconLabelDescriptionList"/>
    <dgm:cxn modelId="{8E3A2CE7-396D-40BB-99BB-2A575888E9BA}" type="presParOf" srcId="{8CFF328C-E122-4404-96A9-AE7B8E89DE50}" destId="{D4D227FC-BEEE-4021-8545-D71B5D743D9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68A688-C8CB-4679-8017-D616B9482023}">
      <dsp:nvSpPr>
        <dsp:cNvPr id="0" name=""/>
        <dsp:cNvSpPr/>
      </dsp:nvSpPr>
      <dsp:spPr>
        <a:xfrm>
          <a:off x="4219" y="794007"/>
          <a:ext cx="844593" cy="844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1BBBD-AA1D-49AD-920D-7BEE95951DC3}">
      <dsp:nvSpPr>
        <dsp:cNvPr id="0" name=""/>
        <dsp:cNvSpPr/>
      </dsp:nvSpPr>
      <dsp:spPr>
        <a:xfrm>
          <a:off x="4219" y="1750606"/>
          <a:ext cx="2413125" cy="791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System Description:</a:t>
          </a:r>
          <a:r>
            <a:rPr lang="en-US" sz="1400" kern="1200"/>
            <a:t> Complete university management system</a:t>
          </a:r>
        </a:p>
      </dsp:txBody>
      <dsp:txXfrm>
        <a:off x="4219" y="1750606"/>
        <a:ext cx="2413125" cy="791806"/>
      </dsp:txXfrm>
    </dsp:sp>
    <dsp:sp modelId="{1C95716F-925E-4010-BA89-8B00946CB759}">
      <dsp:nvSpPr>
        <dsp:cNvPr id="0" name=""/>
        <dsp:cNvSpPr/>
      </dsp:nvSpPr>
      <dsp:spPr>
        <a:xfrm>
          <a:off x="4219" y="2594509"/>
          <a:ext cx="2413125" cy="804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BD774-2294-4C43-BC88-99C77DEEC490}">
      <dsp:nvSpPr>
        <dsp:cNvPr id="0" name=""/>
        <dsp:cNvSpPr/>
      </dsp:nvSpPr>
      <dsp:spPr>
        <a:xfrm>
          <a:off x="2839641" y="794007"/>
          <a:ext cx="844593" cy="844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60D30-31B8-47EC-A1BA-E5237DCCA3B8}">
      <dsp:nvSpPr>
        <dsp:cNvPr id="0" name=""/>
        <dsp:cNvSpPr/>
      </dsp:nvSpPr>
      <dsp:spPr>
        <a:xfrm>
          <a:off x="2839641" y="1750606"/>
          <a:ext cx="2413125" cy="791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Objectives:</a:t>
          </a:r>
          <a:endParaRPr lang="en-US" sz="1400" kern="1200"/>
        </a:p>
      </dsp:txBody>
      <dsp:txXfrm>
        <a:off x="2839641" y="1750606"/>
        <a:ext cx="2413125" cy="791806"/>
      </dsp:txXfrm>
    </dsp:sp>
    <dsp:sp modelId="{E9E1FB0A-11C2-4DB2-A921-9BD7EEDCE5B9}">
      <dsp:nvSpPr>
        <dsp:cNvPr id="0" name=""/>
        <dsp:cNvSpPr/>
      </dsp:nvSpPr>
      <dsp:spPr>
        <a:xfrm>
          <a:off x="2839641" y="2594509"/>
          <a:ext cx="2413125" cy="804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Manage students, teachers, courses, departments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Track enrollments and grades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Generate academic reports</a:t>
          </a:r>
        </a:p>
      </dsp:txBody>
      <dsp:txXfrm>
        <a:off x="2839641" y="2594509"/>
        <a:ext cx="2413125" cy="804288"/>
      </dsp:txXfrm>
    </dsp:sp>
    <dsp:sp modelId="{AC66D1B7-1CF5-4278-8A27-5B3879776719}">
      <dsp:nvSpPr>
        <dsp:cNvPr id="0" name=""/>
        <dsp:cNvSpPr/>
      </dsp:nvSpPr>
      <dsp:spPr>
        <a:xfrm>
          <a:off x="5675062" y="794007"/>
          <a:ext cx="844593" cy="844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85BEA-8FBD-4086-8C3B-222846D3734E}">
      <dsp:nvSpPr>
        <dsp:cNvPr id="0" name=""/>
        <dsp:cNvSpPr/>
      </dsp:nvSpPr>
      <dsp:spPr>
        <a:xfrm>
          <a:off x="5675062" y="1750606"/>
          <a:ext cx="2413125" cy="791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Users:</a:t>
          </a:r>
          <a:r>
            <a:rPr lang="en-US" sz="1400" kern="1200"/>
            <a:t> Administration, teachers, students</a:t>
          </a:r>
        </a:p>
      </dsp:txBody>
      <dsp:txXfrm>
        <a:off x="5675062" y="1750606"/>
        <a:ext cx="2413125" cy="791806"/>
      </dsp:txXfrm>
    </dsp:sp>
    <dsp:sp modelId="{3EB5E440-6EC1-40D1-933A-F5421834CFBB}">
      <dsp:nvSpPr>
        <dsp:cNvPr id="0" name=""/>
        <dsp:cNvSpPr/>
      </dsp:nvSpPr>
      <dsp:spPr>
        <a:xfrm>
          <a:off x="5675062" y="2594509"/>
          <a:ext cx="2413125" cy="804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16D9B1-7F48-4640-8E6D-3E2C1AD4EE2E}">
      <dsp:nvSpPr>
        <dsp:cNvPr id="0" name=""/>
        <dsp:cNvSpPr/>
      </dsp:nvSpPr>
      <dsp:spPr>
        <a:xfrm>
          <a:off x="8510484" y="794007"/>
          <a:ext cx="844593" cy="8445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A58BA-3D4F-42A2-BE57-8CFB8D9CC0C4}">
      <dsp:nvSpPr>
        <dsp:cNvPr id="0" name=""/>
        <dsp:cNvSpPr/>
      </dsp:nvSpPr>
      <dsp:spPr>
        <a:xfrm>
          <a:off x="8510484" y="1750606"/>
          <a:ext cx="2413125" cy="7918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Key Features:</a:t>
          </a:r>
          <a:endParaRPr lang="en-US" sz="1400" kern="1200"/>
        </a:p>
      </dsp:txBody>
      <dsp:txXfrm>
        <a:off x="8510484" y="1750606"/>
        <a:ext cx="2413125" cy="791806"/>
      </dsp:txXfrm>
    </dsp:sp>
    <dsp:sp modelId="{D4D227FC-BEEE-4021-8545-D71B5D743D92}">
      <dsp:nvSpPr>
        <dsp:cNvPr id="0" name=""/>
        <dsp:cNvSpPr/>
      </dsp:nvSpPr>
      <dsp:spPr>
        <a:xfrm>
          <a:off x="8510484" y="2594509"/>
          <a:ext cx="2413125" cy="804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Student registration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Course management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Grade recording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Department organization</a:t>
          </a:r>
        </a:p>
      </dsp:txBody>
      <dsp:txXfrm>
        <a:off x="8510484" y="2594509"/>
        <a:ext cx="2413125" cy="804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D8ABE-F4A3-4FC4-8430-DAA40307C6F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3034C-0FD2-4E42-82D8-8ABFB1E18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10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3034C-0FD2-4E42-82D8-8ABFB1E186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02B1-93BA-53B4-FCE7-5FBF24A8F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11129-1192-F3F3-2AF2-C39491384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3D0E3-3B12-8860-0864-7B36D17C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58E45-282B-AE9A-FC3C-D0DC82D3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A2C03-9B1C-4D65-55A3-D933E7E1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4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BDE6-FDD0-A60B-404B-36915840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7EB89-67F4-32A3-74EB-05D896F6E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8C77B-51FB-8ADA-F083-468D73FDC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8365A-B47E-7E92-6FD3-C13CBD73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1ECDF-6BC5-E1EF-6669-2C3D4AE4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5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9A1F1-D7B5-844F-F5A7-7548F25E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580B7-BB26-AE45-73D1-51E752C4A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D5076-B112-25EE-7917-209FA9F4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55E97-AE84-F1F2-5694-5AED9129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A616-DA4B-B14C-E164-8581A10F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1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E473-B580-89A2-4BB0-3311C4DE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47C9-98D8-2414-6E09-BEA309E71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B1A37-E8C8-E9EF-500A-99D907DBB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DF301-F54B-71C3-EAF6-E2CE8364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5D362-F55B-00AF-9FD7-BFFDB6C8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45A93-DC57-EA00-6271-FA90B796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E1AA-1FF9-C9EF-B427-26883EE7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81BDE-BCEA-AF2E-BC57-D5F83289A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C2B4A-820A-60C8-6FFC-D51DD6D14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898DD-8A11-5118-4FE6-A7A98E800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CF2EA-FABE-CFBB-A4DC-394406C46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9B3A4-544A-4842-221F-3D97AFFF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EA881-EF52-5D63-3BE1-43CC24F6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258CD-9DAC-EE1A-4A83-6BFD2493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6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9593-F80C-2531-AB29-96AF14E2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67AC8-3785-0FBE-FB0B-F878E35A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FCC25A-372F-4A4F-FEC7-8D4637C6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09D5C-9203-9474-9290-AB58FB10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8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5BFF8-9B22-38EC-6110-7FB9C5ED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AF8B3-DE58-17E7-0CD7-F50FA138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B0A2F-E217-BEEB-105D-55DA56F4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84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C465-0F3B-ED64-173B-4914B187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4DFDB-C169-7551-07CD-5870EB27D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8DDDF-3AD3-A79A-368D-72ECC06C0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0DF0D-8861-70A6-AF31-DA3AE98D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D190F-0080-362B-CB5A-C893324C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EBD9E-8C6E-AEEB-84F1-E6B81B7F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1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9A2D-EC6A-61D4-65E1-1DA8BB35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B205A-6E58-3F79-3F0D-39BC47EF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32575-3CE4-2912-39F8-80FA32D68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2CB37-B315-EB30-F536-9F3EAC84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8219B-B13B-6EEC-C059-525A6447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D262E-C195-4F65-4BE9-E8D0765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BC74-0553-A92A-6B0B-08C703BA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2F2C6-BDA1-1C80-4BA7-0DFA5BCA9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B3C6F-5597-88CF-1751-EFD3993F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51DBC-E6A5-4751-0E62-34BF6181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99AA4-CF4F-CCB2-5023-17F7CB94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E1126-BD4B-6DEB-F315-EE71DCDFC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DCA2B-E984-3D62-6A32-EEB199170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163E5-8BB1-04A8-3EF7-5EB673DA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4259-A10A-CB19-B106-9F9CAD25C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B0872-3CB2-9FD9-44F9-0A819A90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8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C37E0-C3BA-D69D-63B4-B99426F3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1A9AD-EFAB-8D7C-1BFA-59F8289B3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2FF59-5D23-45A4-C01D-FB14C8EC2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CE673-7E43-4C6D-B8E0-D86296F7609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CCFCC-6E9C-5DB8-CB2D-6CF49C89E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65CA4-1C07-948C-B5CB-D6FFBA291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C2860-90AC-4837-851F-12A9492C3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0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457200" y="457200"/>
            <a:ext cx="91440" cy="5943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Panel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0F3460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adge"/>
          <p:cNvSpPr/>
          <p:nvPr/>
        </p:nvSpPr>
        <p:spPr>
          <a:xfrm>
            <a:off x="7680960" y="685800"/>
            <a:ext cx="4147200" cy="54864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CS27 — End of Semester Project</a:t>
            </a:r>
          </a:p>
        </p:txBody>
      </p:sp>
      <p:sp>
        <p:nvSpPr>
          <p:cNvPr id="20" name="Circle1"/>
          <p:cNvSpPr/>
          <p:nvPr/>
        </p:nvSpPr>
        <p:spPr>
          <a:xfrm>
            <a:off x="8229600" y="13716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38100">
            <a:solidFill>
              <a:srgbClr val="00B4D8">
                <a:alpha val="40000"/>
              </a:srgbClr>
            </a:solidFill>
          </a:ln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00B4D8"/>
                </a:solidFill>
                <a:latin typeface="Calibri"/>
              </a:rPr>
              <a:t>DB</a:t>
            </a:r>
          </a:p>
        </p:txBody>
      </p:sp>
      <p:sp>
        <p:nvSpPr>
          <p:cNvPr id="21" name="Circle2"/>
          <p:cNvSpPr/>
          <p:nvPr/>
        </p:nvSpPr>
        <p:spPr>
          <a:xfrm>
            <a:off x="8915400" y="2057400"/>
            <a:ext cx="1371600" cy="1371600"/>
          </a:xfrm>
          <a:prstGeom prst="ellipse">
            <a:avLst/>
          </a:prstGeom>
          <a:solidFill>
            <a:srgbClr val="00B4D8">
              <a:alpha val="25000"/>
            </a:srgbClr>
          </a:solidFill>
          <a:ln w="25400">
            <a:solidFill>
              <a:srgbClr val="00B4D8">
                <a:alpha val="50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731520" y="1143000"/>
            <a:ext cx="6400000" cy="1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</a:rPr>
              <a:t>University Management</a:t>
            </a:r>
          </a:p>
          <a:p>
            <a:r>
              <a:rPr lang="en-US" sz="4000" b="1" dirty="0">
                <a:solidFill>
                  <a:srgbClr val="00B4D8"/>
                </a:solidFill>
                <a:latin typeface="Calibri"/>
              </a:rPr>
              <a:t>System Database</a:t>
            </a:r>
          </a:p>
        </p:txBody>
      </p:sp>
      <p:sp>
        <p:nvSpPr>
          <p:cNvPr id="10" name="HLine"/>
          <p:cNvSpPr/>
          <p:nvPr/>
        </p:nvSpPr>
        <p:spPr>
          <a:xfrm>
            <a:off x="731520" y="2743200"/>
            <a:ext cx="5400000" cy="45720"/>
          </a:xfrm>
          <a:prstGeom prst="rect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GroupLabel"/>
          <p:cNvSpPr txBox="1"/>
          <p:nvPr/>
        </p:nvSpPr>
        <p:spPr>
          <a:xfrm>
            <a:off x="731520" y="2880360"/>
            <a:ext cx="2743200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4D8"/>
                </a:solidFill>
                <a:latin typeface="Calibri"/>
              </a:rPr>
              <a:t>GROUP MEMBERS</a:t>
            </a:r>
          </a:p>
        </p:txBody>
      </p:sp>
      <p:sp>
        <p:nvSpPr>
          <p:cNvPr id="6" name="Members"/>
          <p:cNvSpPr txBox="1"/>
          <p:nvPr/>
        </p:nvSpPr>
        <p:spPr>
          <a:xfrm>
            <a:off x="731520" y="3291840"/>
            <a:ext cx="640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8F4FD"/>
                </a:solidFill>
                <a:latin typeface="Calibri"/>
              </a:rPr>
              <a:t>•  CONGO Sougrinoma Anifatou</a:t>
            </a:r>
          </a:p>
          <a:p>
            <a:r>
              <a:rPr lang="en-US" sz="1400" dirty="0">
                <a:solidFill>
                  <a:srgbClr val="E8F4FD"/>
                </a:solidFill>
                <a:latin typeface="Calibri"/>
              </a:rPr>
              <a:t>•  NANA Marc</a:t>
            </a:r>
          </a:p>
          <a:p>
            <a:r>
              <a:rPr lang="en-US" sz="1400" dirty="0">
                <a:solidFill>
                  <a:srgbClr val="E8F4FD"/>
                </a:solidFill>
                <a:latin typeface="Calibri"/>
              </a:rPr>
              <a:t>•  ZOUNGRANA Zalissa</a:t>
            </a:r>
          </a:p>
          <a:p>
            <a:r>
              <a:rPr lang="en-US" sz="1400" dirty="0">
                <a:solidFill>
                  <a:srgbClr val="E8F4FD"/>
                </a:solidFill>
                <a:latin typeface="Calibri"/>
              </a:rPr>
              <a:t>•  YAMEOGO Firmin</a:t>
            </a:r>
          </a:p>
          <a:p>
            <a:r>
              <a:rPr lang="en-US" sz="1400">
                <a:solidFill>
                  <a:srgbClr val="E8F4FD"/>
                </a:solidFill>
                <a:latin typeface="Calibri"/>
              </a:rPr>
              <a:t>•  DAKUYO Annette Alexias </a:t>
            </a:r>
            <a:r>
              <a:rPr lang="en-US" sz="1400" dirty="0">
                <a:solidFill>
                  <a:srgbClr val="E8F4FD"/>
                </a:solidFill>
                <a:latin typeface="Calibri"/>
              </a:rPr>
              <a:t>Prisca</a:t>
            </a:r>
          </a:p>
          <a:p>
            <a:r>
              <a:rPr lang="en-US" sz="1400" dirty="0">
                <a:solidFill>
                  <a:srgbClr val="E8F4FD"/>
                </a:solidFill>
                <a:latin typeface="Calibri"/>
              </a:rPr>
              <a:t>•  KANTIONO Diane</a:t>
            </a:r>
          </a:p>
        </p:txBody>
      </p:sp>
      <p:sp>
        <p:nvSpPr>
          <p:cNvPr id="7" name="Instructor"/>
          <p:cNvSpPr txBox="1"/>
          <p:nvPr/>
        </p:nvSpPr>
        <p:spPr>
          <a:xfrm>
            <a:off x="731520" y="5486400"/>
            <a:ext cx="600000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wrap="square" lIns="182880" rtlCol="0" anchor="ctr">
            <a:spAutoFit/>
          </a:bodyPr>
          <a:lstStyle/>
          <a:p>
            <a:r>
              <a:rPr lang="en-US" sz="1400" b="1" dirty="0">
                <a:solidFill>
                  <a:srgbClr val="00B4D8"/>
                </a:solidFill>
                <a:latin typeface="Calibri"/>
              </a:rPr>
              <a:t>Instructor: </a:t>
            </a:r>
            <a:r>
              <a:rPr lang="en-US" sz="1400" dirty="0">
                <a:solidFill>
                  <a:srgbClr val="FFFFFF"/>
                </a:solidFill>
                <a:latin typeface="Calibri"/>
              </a:rPr>
              <a:t>Kweyakie Afi Blebo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31160-F36C-AA2C-8A4C-A0EC7BD1E9A5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Scenario Overview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C9D29E8-4C1F-8404-8132-140F40F5C5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1327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167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96C194-BC11-3807-3352-F1F1ECD7925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F3460"/>
          </a:solidFill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Part 1 — Database Design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EBB99-6FF9-D878-25BE-37681D8A05E6}"/>
              </a:ext>
            </a:extLst>
          </p:cNvPr>
          <p:cNvSpPr txBox="1"/>
          <p:nvPr/>
        </p:nvSpPr>
        <p:spPr>
          <a:xfrm>
            <a:off x="198120" y="653626"/>
            <a:ext cx="1179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 Entity Identification (1.1)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E4725F-9D3D-FCAA-D09B-3DC74EC4F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850320"/>
              </p:ext>
            </p:extLst>
          </p:nvPr>
        </p:nvGraphicFramePr>
        <p:xfrm>
          <a:off x="129540" y="1113951"/>
          <a:ext cx="11932920" cy="5382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3230">
                  <a:extLst>
                    <a:ext uri="{9D8B030D-6E8A-4147-A177-3AD203B41FA5}">
                      <a16:colId xmlns:a16="http://schemas.microsoft.com/office/drawing/2014/main" val="996254916"/>
                    </a:ext>
                  </a:extLst>
                </a:gridCol>
                <a:gridCol w="2983230">
                  <a:extLst>
                    <a:ext uri="{9D8B030D-6E8A-4147-A177-3AD203B41FA5}">
                      <a16:colId xmlns:a16="http://schemas.microsoft.com/office/drawing/2014/main" val="4288257355"/>
                    </a:ext>
                  </a:extLst>
                </a:gridCol>
                <a:gridCol w="2983230">
                  <a:extLst>
                    <a:ext uri="{9D8B030D-6E8A-4147-A177-3AD203B41FA5}">
                      <a16:colId xmlns:a16="http://schemas.microsoft.com/office/drawing/2014/main" val="1333691652"/>
                    </a:ext>
                  </a:extLst>
                </a:gridCol>
                <a:gridCol w="2983230">
                  <a:extLst>
                    <a:ext uri="{9D8B030D-6E8A-4147-A177-3AD203B41FA5}">
                      <a16:colId xmlns:a16="http://schemas.microsoft.com/office/drawing/2014/main" val="1109431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attributes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Primary key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raison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26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student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student_id, first_name, last_name, date_of_birth, email, phone_number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student-_id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 auto-increment identifier, stable and efficient for relationships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74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teacher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teacher_id, first_name, last_name, email, phone_number, hire_date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Teacher_id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reason - reliable and immutable numeric identifier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118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course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course_id, course_code, course_name, credits, 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Course_id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Avoids issues if course_code ever changes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6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department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department_id, department_name, building, office_phone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Department_id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Stable surrogate key to identify each department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14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enrollment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br>
                        <a:rPr lang="en-US" b="0">
                          <a:effectLst/>
                          <a:latin typeface="quote-cjk-patch"/>
                        </a:rPr>
                      </a:br>
                      <a:r>
                        <a:rPr lang="en-US" b="0">
                          <a:effectLst/>
                          <a:latin typeface="quote-cjk-patch"/>
                        </a:rPr>
                        <a:t>enrollment_id, student_id, course_id, semester, academic_year, enrollment_date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Enrollment_id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Simplifies junction table management and allows referencing from grade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33665"/>
                  </a:ext>
                </a:extLst>
              </a:tr>
            </a:tbl>
          </a:graphicData>
        </a:graphic>
      </p:graphicFrame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4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53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CEFFC-9BA1-630E-5774-216AAC495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679601"/>
              </p:ext>
            </p:extLst>
          </p:nvPr>
        </p:nvGraphicFramePr>
        <p:xfrm>
          <a:off x="41909" y="832578"/>
          <a:ext cx="1205176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942">
                  <a:extLst>
                    <a:ext uri="{9D8B030D-6E8A-4147-A177-3AD203B41FA5}">
                      <a16:colId xmlns:a16="http://schemas.microsoft.com/office/drawing/2014/main" val="2222777063"/>
                    </a:ext>
                  </a:extLst>
                </a:gridCol>
                <a:gridCol w="3012942">
                  <a:extLst>
                    <a:ext uri="{9D8B030D-6E8A-4147-A177-3AD203B41FA5}">
                      <a16:colId xmlns:a16="http://schemas.microsoft.com/office/drawing/2014/main" val="3301919477"/>
                    </a:ext>
                  </a:extLst>
                </a:gridCol>
                <a:gridCol w="3012942">
                  <a:extLst>
                    <a:ext uri="{9D8B030D-6E8A-4147-A177-3AD203B41FA5}">
                      <a16:colId xmlns:a16="http://schemas.microsoft.com/office/drawing/2014/main" val="285423717"/>
                    </a:ext>
                  </a:extLst>
                </a:gridCol>
                <a:gridCol w="3012942">
                  <a:extLst>
                    <a:ext uri="{9D8B030D-6E8A-4147-A177-3AD203B41FA5}">
                      <a16:colId xmlns:a16="http://schemas.microsoft.com/office/drawing/2014/main" val="1466200075"/>
                    </a:ext>
                  </a:extLst>
                </a:gridCol>
              </a:tblGrid>
              <a:tr h="5380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grade_value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grade_date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comments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Grade_id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grade is unique and must be identifiable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230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EC146E-912F-7861-6BF9-6EBC38A9AA79}"/>
              </a:ext>
            </a:extLst>
          </p:cNvPr>
          <p:cNvSpPr txBox="1"/>
          <p:nvPr/>
        </p:nvSpPr>
        <p:spPr>
          <a:xfrm>
            <a:off x="0" y="-39743"/>
            <a:ext cx="12192000" cy="738664"/>
          </a:xfrm>
          <a:prstGeom prst="rect">
            <a:avLst/>
          </a:prstGeom>
          <a:solidFill>
            <a:srgbClr val="0F346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Part 1 — Database Design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6DC5F-DFC4-7F9C-52E0-DED9D8A7569D}"/>
              </a:ext>
            </a:extLst>
          </p:cNvPr>
          <p:cNvSpPr txBox="1"/>
          <p:nvPr/>
        </p:nvSpPr>
        <p:spPr>
          <a:xfrm>
            <a:off x="41908" y="1880635"/>
            <a:ext cx="12020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Design Decision:</a:t>
            </a:r>
            <a:r>
              <a:rPr lang="en-US" dirty="0"/>
              <a:t> Used surrogate keys (auto-increment IDs) for stability and performance</a:t>
            </a:r>
          </a:p>
          <a:p>
            <a:endParaRPr lang="en-US" dirty="0"/>
          </a:p>
          <a:p>
            <a:r>
              <a:rPr lang="en-US" b="1" dirty="0"/>
              <a:t>Relationships Diagram (1.2 &amp; 1.3)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6006EC2-55C6-E02B-2CCB-67F46CC93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069"/>
              </p:ext>
            </p:extLst>
          </p:nvPr>
        </p:nvGraphicFramePr>
        <p:xfrm>
          <a:off x="41908" y="3025896"/>
          <a:ext cx="12051769" cy="3284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942">
                  <a:extLst>
                    <a:ext uri="{9D8B030D-6E8A-4147-A177-3AD203B41FA5}">
                      <a16:colId xmlns:a16="http://schemas.microsoft.com/office/drawing/2014/main" val="40705208"/>
                    </a:ext>
                  </a:extLst>
                </a:gridCol>
                <a:gridCol w="1032953">
                  <a:extLst>
                    <a:ext uri="{9D8B030D-6E8A-4147-A177-3AD203B41FA5}">
                      <a16:colId xmlns:a16="http://schemas.microsoft.com/office/drawing/2014/main" val="24073079"/>
                    </a:ext>
                  </a:extLst>
                </a:gridCol>
                <a:gridCol w="4992932">
                  <a:extLst>
                    <a:ext uri="{9D8B030D-6E8A-4147-A177-3AD203B41FA5}">
                      <a16:colId xmlns:a16="http://schemas.microsoft.com/office/drawing/2014/main" val="1898686188"/>
                    </a:ext>
                  </a:extLst>
                </a:gridCol>
                <a:gridCol w="3012942">
                  <a:extLst>
                    <a:ext uri="{9D8B030D-6E8A-4147-A177-3AD203B41FA5}">
                      <a16:colId xmlns:a16="http://schemas.microsoft.com/office/drawing/2014/main" val="2202716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Relationship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68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 → student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department has many students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student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90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 → teacher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department employs many teachers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teacher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634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department → course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1:N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department offers many courses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department_id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course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66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teacher → course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teacher can teach many courses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teacher_id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course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54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 ↔ course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student takes many courses AND one course has many students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 junction table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5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 → enrollment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student can have many enrollments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 </a:t>
                      </a:r>
                      <a:r>
                        <a:rPr lang="nl-NL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student_id</a:t>
                      </a:r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nl-NL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480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 → enrollment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course can have many enrollments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enrollment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71609"/>
                  </a:ext>
                </a:extLst>
              </a:tr>
            </a:tbl>
          </a:graphicData>
        </a:graphic>
      </p:graphicFrame>
      <p:sp>
        <p:nvSpPr>
          <p:cNvPr id="9001" name="BottomBar"/>
          <p:cNvSpPr/>
          <p:nvPr/>
        </p:nvSpPr>
        <p:spPr>
          <a:xfrm>
            <a:off x="0" y="6508955"/>
            <a:ext cx="12192000" cy="349045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08955"/>
            <a:ext cx="4000000" cy="34904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220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5E44F4-6CEE-35C4-71A6-C9AB19F97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90127"/>
              </p:ext>
            </p:extLst>
          </p:nvPr>
        </p:nvGraphicFramePr>
        <p:xfrm>
          <a:off x="106680" y="606425"/>
          <a:ext cx="117576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415">
                  <a:extLst>
                    <a:ext uri="{9D8B030D-6E8A-4147-A177-3AD203B41FA5}">
                      <a16:colId xmlns:a16="http://schemas.microsoft.com/office/drawing/2014/main" val="1036453003"/>
                    </a:ext>
                  </a:extLst>
                </a:gridCol>
                <a:gridCol w="1007745">
                  <a:extLst>
                    <a:ext uri="{9D8B030D-6E8A-4147-A177-3AD203B41FA5}">
                      <a16:colId xmlns:a16="http://schemas.microsoft.com/office/drawing/2014/main" val="4071895749"/>
                    </a:ext>
                  </a:extLst>
                </a:gridCol>
                <a:gridCol w="4871085">
                  <a:extLst>
                    <a:ext uri="{9D8B030D-6E8A-4147-A177-3AD203B41FA5}">
                      <a16:colId xmlns:a16="http://schemas.microsoft.com/office/drawing/2014/main" val="1227267878"/>
                    </a:ext>
                  </a:extLst>
                </a:gridCol>
                <a:gridCol w="2939415">
                  <a:extLst>
                    <a:ext uri="{9D8B030D-6E8A-4147-A177-3AD203B41FA5}">
                      <a16:colId xmlns:a16="http://schemas.microsoft.com/office/drawing/2014/main" val="1807070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 → grade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enrollment has 0 or 1 final grade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FK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(UNIQUE) in grade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0308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5763B5-8DD1-54DB-78AC-49C60B34298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F346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Part 1 — Database Design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C9B4F-C7C6-A810-B72A-A71296BC8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18" y="1874634"/>
            <a:ext cx="7174614" cy="4534257"/>
          </a:xfrm>
          <a:prstGeom prst="rect">
            <a:avLst/>
          </a:prstGeom>
        </p:spPr>
      </p:pic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4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234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EE428-A878-9E4E-CA53-F0C82A8176E5}"/>
              </a:ext>
            </a:extLst>
          </p:cNvPr>
          <p:cNvSpPr txBox="1"/>
          <p:nvPr/>
        </p:nvSpPr>
        <p:spPr>
          <a:xfrm>
            <a:off x="0" y="777240"/>
            <a:ext cx="11658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Normalization Walkthrough (1.4)</a:t>
            </a:r>
          </a:p>
          <a:p>
            <a:endParaRPr lang="en-US" b="1" dirty="0"/>
          </a:p>
          <a:p>
            <a:r>
              <a:rPr lang="en-US" b="1" dirty="0"/>
              <a:t>Unnormalized Form (Violations)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95E18-7BBC-7473-6C68-08973A9CE4F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F346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Part 1 — Database Design</a:t>
            </a:r>
            <a:endParaRPr lang="en-US" sz="24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4E22F3-7408-FD5D-D78E-D03E59C28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67107"/>
              </p:ext>
            </p:extLst>
          </p:nvPr>
        </p:nvGraphicFramePr>
        <p:xfrm>
          <a:off x="187960" y="1808142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279617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074315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248962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67844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722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John Doe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Math, Physics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Smith, 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15, 12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8840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F6ADE4-568A-4808-01A7-35CF01221D83}"/>
              </a:ext>
            </a:extLst>
          </p:cNvPr>
          <p:cNvSpPr txBox="1"/>
          <p:nvPr/>
        </p:nvSpPr>
        <p:spPr>
          <a:xfrm>
            <a:off x="93980" y="2804497"/>
            <a:ext cx="11470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Problems:</a:t>
            </a:r>
            <a:endParaRPr lang="en-US" dirty="0"/>
          </a:p>
          <a:p>
            <a:r>
              <a:rPr lang="en-US" dirty="0"/>
              <a:t>❌ 1NF: Multi-valued attributes</a:t>
            </a:r>
          </a:p>
          <a:p>
            <a:r>
              <a:rPr lang="en-US" dirty="0"/>
              <a:t>❌ 2NF: Partial dependencies</a:t>
            </a:r>
          </a:p>
          <a:p>
            <a:r>
              <a:rPr lang="en-US" dirty="0"/>
              <a:t>❌ 3NF: Transitive dependencies</a:t>
            </a:r>
          </a:p>
          <a:p>
            <a:r>
              <a:rPr lang="en-US" b="1" dirty="0"/>
              <a:t>After 1NF</a:t>
            </a:r>
          </a:p>
          <a:p>
            <a:endParaRPr lang="en-US" b="1" dirty="0"/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D6B40A-FDFA-CCFE-519A-B0BAF49E4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117072"/>
              </p:ext>
            </p:extLst>
          </p:nvPr>
        </p:nvGraphicFramePr>
        <p:xfrm>
          <a:off x="187960" y="4449881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160">
                  <a:extLst>
                    <a:ext uri="{9D8B030D-6E8A-4147-A177-3AD203B41FA5}">
                      <a16:colId xmlns:a16="http://schemas.microsoft.com/office/drawing/2014/main" val="416984953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1359305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909643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330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17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John Doe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099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John Doe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4152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B2F2776-E2C9-D25F-9C6B-E8C6E0B9FF36}"/>
              </a:ext>
            </a:extLst>
          </p:cNvPr>
          <p:cNvSpPr txBox="1"/>
          <p:nvPr/>
        </p:nvSpPr>
        <p:spPr>
          <a:xfrm>
            <a:off x="187960" y="5836920"/>
            <a:ext cx="1147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Final 3NF Schema</a:t>
            </a:r>
          </a:p>
          <a:p>
            <a:r>
              <a:rPr lang="en-US"/>
              <a:t>6 tables with no redundancy, full functional dependencies</a:t>
            </a:r>
          </a:p>
        </p:txBody>
      </p:sp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4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004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rgbClr val="0F3460">
                  <a:lumMod val="75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alpha val="46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rgbClr val="0F3460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rgbClr val="0F3460">
                  <a:alpha val="43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lumMod val="60000"/>
                  <a:lumOff val="40000"/>
                  <a:alpha val="11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DD54B9-1969-9258-EDD7-C73A3FFF0159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2— MySQL Implementation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9BABE-FD13-F439-ECF2-384ACCAC5368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8F4FD"/>
                </a:solidFill>
              </a:rPr>
              <a:t>Database Implementation (2.1)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8F4FD"/>
                </a:solidFill>
              </a:rPr>
              <a:t>Data Types &amp; Constraints: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E8F4FD"/>
                </a:solidFill>
              </a:rPr>
              <a:t>sql</a:t>
            </a: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E8F4FD"/>
                </a:solidFill>
              </a:rPr>
              <a:t>-- Example: Student table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CREATE TABLE student (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student_id</a:t>
            </a:r>
            <a:r>
              <a:rPr lang="en-US" sz="1400" dirty="0">
                <a:solidFill>
                  <a:srgbClr val="E8F4FD"/>
                </a:solidFill>
              </a:rPr>
              <a:t> INT AUTO_INCREMENT PRIMARY KEY,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first_name</a:t>
            </a:r>
            <a:r>
              <a:rPr lang="en-US" sz="1400" dirty="0">
                <a:solidFill>
                  <a:srgbClr val="E8F4FD"/>
                </a:solidFill>
              </a:rPr>
              <a:t> VARCHAR(50) NOT NULL,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last_name</a:t>
            </a:r>
            <a:r>
              <a:rPr lang="en-US" sz="1400" dirty="0">
                <a:solidFill>
                  <a:srgbClr val="E8F4FD"/>
                </a:solidFill>
              </a:rPr>
              <a:t> VARCHAR(50) NOT NULL,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email VARCHAR(100) NOT NULL UNIQUE,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enrollment_date</a:t>
            </a:r>
            <a:r>
              <a:rPr lang="en-US" sz="1400" dirty="0">
                <a:solidFill>
                  <a:srgbClr val="E8F4FD"/>
                </a:solidFill>
              </a:rPr>
              <a:t> DATE NOT NULL DEFAULT (CURRENT_DATE),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department_id</a:t>
            </a:r>
            <a:r>
              <a:rPr lang="en-US" sz="1400" dirty="0">
                <a:solidFill>
                  <a:srgbClr val="E8F4FD"/>
                </a:solidFill>
              </a:rPr>
              <a:t> INT,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FOREIGN KEY (</a:t>
            </a:r>
            <a:r>
              <a:rPr lang="en-US" sz="1400" dirty="0" err="1">
                <a:solidFill>
                  <a:srgbClr val="E8F4FD"/>
                </a:solidFill>
              </a:rPr>
              <a:t>department_id</a:t>
            </a:r>
            <a:r>
              <a:rPr lang="en-US" sz="1400" dirty="0">
                <a:solidFill>
                  <a:srgbClr val="E8F4FD"/>
                </a:solidFill>
              </a:rPr>
              <a:t>) REFERENCES department(</a:t>
            </a:r>
            <a:r>
              <a:rPr lang="en-US" sz="1400" dirty="0" err="1">
                <a:solidFill>
                  <a:srgbClr val="E8F4FD"/>
                </a:solidFill>
              </a:rPr>
              <a:t>department_id</a:t>
            </a:r>
            <a:r>
              <a:rPr lang="en-US" sz="1400" dirty="0">
                <a:solidFill>
                  <a:srgbClr val="E8F4FD"/>
                </a:solidFill>
              </a:rPr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);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8F4FD"/>
                </a:solidFill>
              </a:rPr>
              <a:t>Key Constraints Used: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PRIMARY KEY - Unique identification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FOREIGN KEY - Referential integrity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NOT NULL - Required fields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UNIQUE - Prevent duplicates (email)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CHECK - Validate grade range (0-20)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DEFAULT - Auto-set enrollment date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3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95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07AFE-F631-D929-E89D-79BEA4830ADB}"/>
              </a:ext>
            </a:extLst>
          </p:cNvPr>
          <p:cNvSpPr txBox="1"/>
          <p:nvPr/>
        </p:nvSpPr>
        <p:spPr>
          <a:xfrm>
            <a:off x="925544" y="160672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E8F4FD"/>
                </a:solidFill>
                <a:latin typeface="+mj-lt"/>
                <a:ea typeface="+mj-ea"/>
                <a:cs typeface="+mj-cs"/>
              </a:rPr>
              <a:t>Part 2— MySQL Implementation</a:t>
            </a:r>
            <a:endParaRPr lang="en-US" sz="4000" kern="1200" dirty="0">
              <a:solidFill>
                <a:srgbClr val="E8F4FD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DEC7B-5695-4530-650D-15C61D3967B9}"/>
              </a:ext>
            </a:extLst>
          </p:cNvPr>
          <p:cNvSpPr txBox="1"/>
          <p:nvPr/>
        </p:nvSpPr>
        <p:spPr>
          <a:xfrm>
            <a:off x="1094338" y="1956475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Sample Data (2.2)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Database Statistics: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4</a:t>
            </a:r>
            <a:r>
              <a:rPr lang="en-US" sz="2000" dirty="0">
                <a:solidFill>
                  <a:srgbClr val="E8F4FD"/>
                </a:solidFill>
              </a:rPr>
              <a:t> Departments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10</a:t>
            </a:r>
            <a:r>
              <a:rPr lang="en-US" sz="2000" dirty="0">
                <a:solidFill>
                  <a:srgbClr val="E8F4FD"/>
                </a:solidFill>
              </a:rPr>
              <a:t> Teachers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15</a:t>
            </a:r>
            <a:r>
              <a:rPr lang="en-US" sz="2000" dirty="0">
                <a:solidFill>
                  <a:srgbClr val="E8F4FD"/>
                </a:solidFill>
              </a:rPr>
              <a:t> Students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12</a:t>
            </a:r>
            <a:r>
              <a:rPr lang="en-US" sz="2000" dirty="0">
                <a:solidFill>
                  <a:srgbClr val="E8F4FD"/>
                </a:solidFill>
              </a:rPr>
              <a:t> Courses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30</a:t>
            </a:r>
            <a:r>
              <a:rPr lang="en-US" sz="2000" dirty="0">
                <a:solidFill>
                  <a:srgbClr val="E8F4FD"/>
                </a:solidFill>
              </a:rPr>
              <a:t> Enrollments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25</a:t>
            </a:r>
            <a:r>
              <a:rPr lang="en-US" sz="2000" dirty="0">
                <a:solidFill>
                  <a:srgbClr val="E8F4FD"/>
                </a:solidFill>
              </a:rPr>
              <a:t> Grades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E8F4FD"/>
                </a:solidFill>
              </a:rPr>
              <a:t>Sample Student Data: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rgbClr val="0F3460"/>
              </a:gs>
            </a:gsLst>
            <a:lin ang="24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rgbClr val="0F3460">
                  <a:lumMod val="50000"/>
                  <a:alpha val="0"/>
                </a:srgbClr>
              </a:gs>
              <a:gs pos="100000">
                <a:srgbClr val="0F3460">
                  <a:lumMod val="50000"/>
                  <a:alpha val="26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rgbClr val="0F3460">
                  <a:alpha val="0"/>
                </a:srgb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rgbClr val="0F3460">
                  <a:alpha val="0"/>
                </a:srgb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C4EB4-B455-68AA-BCE8-406E7DD47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952270"/>
              </p:ext>
            </p:extLst>
          </p:nvPr>
        </p:nvGraphicFramePr>
        <p:xfrm>
          <a:off x="3158084" y="5219642"/>
          <a:ext cx="4581350" cy="118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842">
                  <a:extLst>
                    <a:ext uri="{9D8B030D-6E8A-4147-A177-3AD203B41FA5}">
                      <a16:colId xmlns:a16="http://schemas.microsoft.com/office/drawing/2014/main" val="1232939374"/>
                    </a:ext>
                  </a:extLst>
                </a:gridCol>
                <a:gridCol w="832842">
                  <a:extLst>
                    <a:ext uri="{9D8B030D-6E8A-4147-A177-3AD203B41FA5}">
                      <a16:colId xmlns:a16="http://schemas.microsoft.com/office/drawing/2014/main" val="3397495893"/>
                    </a:ext>
                  </a:extLst>
                </a:gridCol>
                <a:gridCol w="2076289">
                  <a:extLst>
                    <a:ext uri="{9D8B030D-6E8A-4147-A177-3AD203B41FA5}">
                      <a16:colId xmlns:a16="http://schemas.microsoft.com/office/drawing/2014/main" val="1017384312"/>
                    </a:ext>
                  </a:extLst>
                </a:gridCol>
                <a:gridCol w="839377">
                  <a:extLst>
                    <a:ext uri="{9D8B030D-6E8A-4147-A177-3AD203B41FA5}">
                      <a16:colId xmlns:a16="http://schemas.microsoft.com/office/drawing/2014/main" val="4070143906"/>
                    </a:ext>
                  </a:extLst>
                </a:gridCol>
              </a:tblGrid>
              <a:tr h="279396">
                <a:tc>
                  <a:txBody>
                    <a:bodyPr/>
                    <a:lstStyle/>
                    <a:p>
                      <a:r>
                        <a:rPr lang="en-US" sz="900" b="0" cap="none" spc="0" err="1">
                          <a:solidFill>
                            <a:srgbClr val="E8F4FD"/>
                          </a:solidFill>
                        </a:rPr>
                        <a:t>First_name</a:t>
                      </a:r>
                      <a:endParaRPr lang="en-US" sz="900" b="0" cap="none" spc="0">
                        <a:solidFill>
                          <a:srgbClr val="E8F4FD"/>
                        </a:solidFill>
                      </a:endParaRPr>
                    </a:p>
                  </a:txBody>
                  <a:tcPr marL="74241" marR="57109" marT="57109" marB="57109" anchor="ctr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cap="none" spc="0" dirty="0" err="1">
                          <a:solidFill>
                            <a:srgbClr val="E8F4FD"/>
                          </a:solidFill>
                        </a:rPr>
                        <a:t>Last_name</a:t>
                      </a:r>
                      <a:endParaRPr lang="en-US" sz="900" b="0" cap="none" spc="0" dirty="0">
                        <a:solidFill>
                          <a:srgbClr val="E8F4FD"/>
                        </a:solidFill>
                      </a:endParaRPr>
                    </a:p>
                  </a:txBody>
                  <a:tcPr marL="74241" marR="57109" marT="57109" marB="57109" anchor="ctr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cap="none" spc="0" dirty="0">
                          <a:solidFill>
                            <a:srgbClr val="E8F4FD"/>
                          </a:solidFill>
                        </a:rPr>
                        <a:t>email</a:t>
                      </a:r>
                    </a:p>
                  </a:txBody>
                  <a:tcPr marL="74241" marR="57109" marT="57109" marB="57109" anchor="ctr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cap="none" spc="0" dirty="0">
                          <a:solidFill>
                            <a:srgbClr val="E8F4FD"/>
                          </a:solidFill>
                        </a:rPr>
                        <a:t>department</a:t>
                      </a:r>
                    </a:p>
                  </a:txBody>
                  <a:tcPr marL="74241" marR="57109" marT="57109" marB="57109" anchor="ctr"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96529"/>
                  </a:ext>
                </a:extLst>
              </a:tr>
              <a:tr h="300443">
                <a:tc>
                  <a:txBody>
                    <a:bodyPr/>
                    <a:lstStyle/>
                    <a:p>
                      <a:r>
                        <a:rPr lang="en-US" sz="900" cap="none" spc="0">
                          <a:solidFill>
                            <a:srgbClr val="E8F4FD"/>
                          </a:solidFill>
                        </a:rPr>
                        <a:t>John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cap="none" spc="0">
                          <a:solidFill>
                            <a:srgbClr val="E8F4FD"/>
                          </a:solidFill>
                        </a:rPr>
                        <a:t>Kone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1200" cap="none" spc="0">
                          <a:solidFill>
                            <a:srgbClr val="E8F4FD"/>
                          </a:solidFill>
                          <a:effectLst/>
                        </a:rPr>
                        <a:t>john.kone@student.univ.edu</a:t>
                      </a:r>
                      <a:endParaRPr lang="en-US" sz="900" cap="none" spc="0">
                        <a:solidFill>
                          <a:srgbClr val="E8F4FD"/>
                        </a:solidFill>
                      </a:endParaRP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cap="none" spc="0">
                          <a:solidFill>
                            <a:srgbClr val="E8F4FD"/>
                          </a:solidFill>
                        </a:rPr>
                        <a:t>cs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329550"/>
                  </a:ext>
                </a:extLst>
              </a:tr>
              <a:tr h="300443">
                <a:tc>
                  <a:txBody>
                    <a:bodyPr/>
                    <a:lstStyle/>
                    <a:p>
                      <a:r>
                        <a:rPr lang="en-US" sz="900" cap="none" spc="0">
                          <a:solidFill>
                            <a:srgbClr val="E8F4FD"/>
                          </a:solidFill>
                        </a:rPr>
                        <a:t>Mary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cap="none" spc="0">
                          <a:solidFill>
                            <a:srgbClr val="E8F4FD"/>
                          </a:solidFill>
                        </a:rPr>
                        <a:t>Traore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1200" cap="none" spc="0">
                          <a:solidFill>
                            <a:srgbClr val="E8F4FD"/>
                          </a:solidFill>
                          <a:effectLst/>
                        </a:rPr>
                        <a:t>mary.traore@student.univ.edu</a:t>
                      </a:r>
                      <a:endParaRPr lang="en-US" sz="900" cap="none" spc="0">
                        <a:solidFill>
                          <a:srgbClr val="E8F4FD"/>
                        </a:solidFill>
                      </a:endParaRP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cap="none" spc="0">
                          <a:solidFill>
                            <a:srgbClr val="E8F4FD"/>
                          </a:solidFill>
                        </a:rPr>
                        <a:t>math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10302"/>
                  </a:ext>
                </a:extLst>
              </a:tr>
              <a:tr h="300443">
                <a:tc>
                  <a:txBody>
                    <a:bodyPr/>
                    <a:lstStyle/>
                    <a:p>
                      <a:r>
                        <a:rPr lang="en-US" sz="900" cap="none" spc="0">
                          <a:solidFill>
                            <a:srgbClr val="E8F4FD"/>
                          </a:solidFill>
                        </a:rPr>
                        <a:t>Paul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cap="none" spc="0" dirty="0">
                          <a:solidFill>
                            <a:srgbClr val="E8F4FD"/>
                          </a:solidFill>
                        </a:rPr>
                        <a:t>Ouedraogo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kern="1200" cap="none" spc="0" dirty="0">
                          <a:solidFill>
                            <a:srgbClr val="E8F4FD"/>
                          </a:solidFill>
                          <a:effectLst/>
                        </a:rPr>
                        <a:t>paul.ouedraogo@student.univ.edu</a:t>
                      </a:r>
                      <a:endParaRPr lang="en-US" sz="900" cap="none" spc="0" dirty="0">
                        <a:solidFill>
                          <a:srgbClr val="E8F4FD"/>
                        </a:solidFill>
                      </a:endParaRP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cap="none" spc="0" dirty="0">
                          <a:solidFill>
                            <a:srgbClr val="E8F4FD"/>
                          </a:solidFill>
                        </a:rPr>
                        <a:t>physics</a:t>
                      </a:r>
                    </a:p>
                  </a:txBody>
                  <a:tcPr marL="74241" marR="57109" marT="57109" marB="57109">
                    <a:solidFill>
                      <a:srgbClr val="16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208679"/>
                  </a:ext>
                </a:extLst>
              </a:tr>
            </a:tbl>
          </a:graphicData>
        </a:graphic>
      </p:graphicFrame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3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853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rgbClr val="0F3460">
                  <a:lumMod val="75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alpha val="46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rgbClr val="0F3460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rgbClr val="0F3460">
                  <a:alpha val="43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lumMod val="60000"/>
                  <a:lumOff val="40000"/>
                  <a:alpha val="11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C6B451-BC36-1631-C50E-F074E6763B39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2— MySQL Implementation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70A9A-41CE-DC3B-C764-A545737A7D13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 UPDATE/DELETE Operations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UPDATE Examples: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Update email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UPDATE student SET email = 'new.email@univ.edu' WHERE student_id = 1;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Update course credits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UPDATE course SET credits = 5 WHERE course_code = 'CS101';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Update grade with comment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UPDATE grade SET grade_value = 15.0, comments = 'Corrected' WHERE grade_id = 5;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DELETE Examples: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Delete enrollment (cascades to grade)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DELETE FROM enrollment WHERE student_id = 15 AND course_id = 7;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Delete student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DELETE FROM student WHERE student_id = 14;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Referential Integrity: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ON DELETE CASCADE on critical relationships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ON DELETE SET NULL for optional relationships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Violation example: Inserting with invalid FK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</p:txBody>
      </p:sp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3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461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rgbClr val="0F3460">
                  <a:lumMod val="75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alpha val="46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rgbClr val="0F3460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rgbClr val="0F3460">
                  <a:alpha val="43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lumMod val="60000"/>
                  <a:lumOff val="40000"/>
                  <a:alpha val="11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49388B-4268-38FA-829D-D51BD3B455B7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2— MySQL Implementation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F09E8-2ECF-70C7-AB24-19EE54B40D60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SELECT Queries (2.4)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Basic Queries: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All students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SELECT * FROM student;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Students in CS department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SELECT first_name, last_name FROM student WHERE department_id = 1;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Top 5 courses by credits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SELECT course_name, credits FROM course ORDER BY credits DESC LIMIT 5;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Filtering: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Students with .edu email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SELECT * FROM student WHERE email LIKE '%@univ.edu';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Grades between 14 and 18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SELECT * FROM grade WHERE grade_value BETWEEN 14 AND 18;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E8F4FD"/>
                </a:solidFill>
              </a:rPr>
              <a:t>JOIN Operations: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E8F4FD"/>
                </a:solidFill>
              </a:rPr>
              <a:t>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INNER JOIN: Only matching records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i="1">
                <a:solidFill>
                  <a:srgbClr val="E8F4FD"/>
                </a:solidFill>
              </a:rPr>
              <a:t>-- LEFT JOIN: All courses, even without grades</a:t>
            </a:r>
            <a:endParaRPr lang="en-US" sz="11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b="1"/>
          </a:p>
        </p:txBody>
      </p:sp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3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7592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F3460">
                    <a:shade val="50000"/>
                  </a:srgbClr>
                </a:solidFill>
                <a:prstDash val="solid"/>
                <a:miter lim="800000"/>
              </a14:hiddenLine>
            </a:ext>
          </a:extLst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rgbClr val="0F3460">
                  <a:lumMod val="75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alpha val="46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rgbClr val="0F3460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rgbClr val="0F3460">
                  <a:alpha val="43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F3460">
                  <a:lumMod val="60000"/>
                  <a:lumOff val="40000"/>
                  <a:alpha val="11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rgbClr val="0F3460">
              <a:shade val="50000"/>
            </a:srgbClr>
          </a:lnRef>
          <a:fillRef idx="1">
            <a:srgbClr val="0F3460"/>
          </a:fillRef>
          <a:effectRef idx="0">
            <a:srgbClr val="0F346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BCD86-5F84-16C3-CA98-49F4456929EE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2— MySQL Implementation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AF8DF-0961-3FF2-C95C-35296CAFDED3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8F4FD"/>
                </a:solidFill>
              </a:rPr>
              <a:t>Complex JOIN Example (2.4)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8F4FD"/>
                </a:solidFill>
              </a:rPr>
              <a:t>Query: Student performance with teacher information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E8F4FD"/>
                </a:solidFill>
              </a:rPr>
              <a:t>sql</a:t>
            </a: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SELECT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s.first_name</a:t>
            </a:r>
            <a:r>
              <a:rPr lang="en-US" sz="1400" dirty="0">
                <a:solidFill>
                  <a:srgbClr val="E8F4FD"/>
                </a:solidFill>
              </a:rPr>
              <a:t> AS student,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c.course_name</a:t>
            </a:r>
            <a:r>
              <a:rPr lang="en-US" sz="1400" dirty="0">
                <a:solidFill>
                  <a:srgbClr val="E8F4FD"/>
                </a:solidFill>
              </a:rPr>
              <a:t>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t.last_name</a:t>
            </a:r>
            <a:r>
              <a:rPr lang="en-US" sz="1400" dirty="0">
                <a:solidFill>
                  <a:srgbClr val="E8F4FD"/>
                </a:solidFill>
              </a:rPr>
              <a:t> AS teacher,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    </a:t>
            </a:r>
            <a:r>
              <a:rPr lang="en-US" sz="1400" dirty="0" err="1">
                <a:solidFill>
                  <a:srgbClr val="E8F4FD"/>
                </a:solidFill>
              </a:rPr>
              <a:t>g.grade_value</a:t>
            </a: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FROM student 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JOIN enrollment e ON </a:t>
            </a:r>
            <a:r>
              <a:rPr lang="en-US" sz="1400" dirty="0" err="1">
                <a:solidFill>
                  <a:srgbClr val="E8F4FD"/>
                </a:solidFill>
              </a:rPr>
              <a:t>s.student_id</a:t>
            </a:r>
            <a:r>
              <a:rPr lang="en-US" sz="1400" dirty="0">
                <a:solidFill>
                  <a:srgbClr val="E8F4FD"/>
                </a:solidFill>
              </a:rPr>
              <a:t> = </a:t>
            </a:r>
            <a:r>
              <a:rPr lang="en-US" sz="1400" dirty="0" err="1">
                <a:solidFill>
                  <a:srgbClr val="E8F4FD"/>
                </a:solidFill>
              </a:rPr>
              <a:t>e.student_id</a:t>
            </a: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JOIN course c ON </a:t>
            </a:r>
            <a:r>
              <a:rPr lang="en-US" sz="1400" dirty="0" err="1">
                <a:solidFill>
                  <a:srgbClr val="E8F4FD"/>
                </a:solidFill>
              </a:rPr>
              <a:t>e.course_id</a:t>
            </a:r>
            <a:r>
              <a:rPr lang="en-US" sz="1400" dirty="0">
                <a:solidFill>
                  <a:srgbClr val="E8F4FD"/>
                </a:solidFill>
              </a:rPr>
              <a:t> = </a:t>
            </a:r>
            <a:r>
              <a:rPr lang="en-US" sz="1400" dirty="0" err="1">
                <a:solidFill>
                  <a:srgbClr val="E8F4FD"/>
                </a:solidFill>
              </a:rPr>
              <a:t>c.course_id</a:t>
            </a: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JOIN teacher t ON </a:t>
            </a:r>
            <a:r>
              <a:rPr lang="en-US" sz="1400" dirty="0" err="1">
                <a:solidFill>
                  <a:srgbClr val="E8F4FD"/>
                </a:solidFill>
              </a:rPr>
              <a:t>c.teacher_id</a:t>
            </a:r>
            <a:r>
              <a:rPr lang="en-US" sz="1400" dirty="0">
                <a:solidFill>
                  <a:srgbClr val="E8F4FD"/>
                </a:solidFill>
              </a:rPr>
              <a:t> = </a:t>
            </a:r>
            <a:r>
              <a:rPr lang="en-US" sz="1400" dirty="0" err="1">
                <a:solidFill>
                  <a:srgbClr val="E8F4FD"/>
                </a:solidFill>
              </a:rPr>
              <a:t>t.teacher_id</a:t>
            </a: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LEFT JOIN grade g ON </a:t>
            </a:r>
            <a:r>
              <a:rPr lang="en-US" sz="1400" dirty="0" err="1">
                <a:solidFill>
                  <a:srgbClr val="E8F4FD"/>
                </a:solidFill>
              </a:rPr>
              <a:t>e.enrollment_id</a:t>
            </a:r>
            <a:r>
              <a:rPr lang="en-US" sz="1400" dirty="0">
                <a:solidFill>
                  <a:srgbClr val="E8F4FD"/>
                </a:solidFill>
              </a:rPr>
              <a:t> = </a:t>
            </a:r>
            <a:r>
              <a:rPr lang="en-US" sz="1400" dirty="0" err="1">
                <a:solidFill>
                  <a:srgbClr val="E8F4FD"/>
                </a:solidFill>
              </a:rPr>
              <a:t>g.enrollment_id</a:t>
            </a: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WHERE </a:t>
            </a:r>
            <a:r>
              <a:rPr lang="en-US" sz="1400" dirty="0" err="1">
                <a:solidFill>
                  <a:srgbClr val="E8F4FD"/>
                </a:solidFill>
              </a:rPr>
              <a:t>g.grade_value</a:t>
            </a:r>
            <a:r>
              <a:rPr lang="en-US" sz="1400" dirty="0">
                <a:solidFill>
                  <a:srgbClr val="E8F4FD"/>
                </a:solidFill>
              </a:rPr>
              <a:t> IS NOT NULL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ORDER BY </a:t>
            </a:r>
            <a:r>
              <a:rPr lang="en-US" sz="1400" dirty="0" err="1">
                <a:solidFill>
                  <a:srgbClr val="E8F4FD"/>
                </a:solidFill>
              </a:rPr>
              <a:t>g.grade_value</a:t>
            </a:r>
            <a:r>
              <a:rPr lang="en-US" sz="1400" dirty="0">
                <a:solidFill>
                  <a:srgbClr val="E8F4FD"/>
                </a:solidFill>
              </a:rPr>
              <a:t> DESC;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>
              <a:solidFill>
                <a:srgbClr val="E8F4FD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8F4FD"/>
                </a:solidFill>
              </a:rPr>
              <a:t>What this shows: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Connects 5 tables (student → enrollment → course → teacher → grade)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LEFT JOIN ensures we see all enrollments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Filter excludes students without grades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8F4FD"/>
                </a:solidFill>
              </a:rPr>
              <a:t>Sorted by performance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sp>
        <p:nvSpPr>
          <p:cNvPr id="900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ottomLine"/>
          <p:cNvSpPr/>
          <p:nvPr/>
        </p:nvSpPr>
        <p:spPr>
          <a:xfrm>
            <a:off x="0" y="6553200"/>
            <a:ext cx="3000000" cy="30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9647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vyTech">
      <a:dk1>
        <a:sysClr val="windowText" lastClr="000000"/>
      </a:dk1>
      <a:lt1>
        <a:sysClr val="window" lastClr="FFFFFF"/>
      </a:lt1>
      <a:dk2>
        <a:srgbClr val="16213E"/>
      </a:dk2>
      <a:lt2>
        <a:srgbClr val="E8F4FD"/>
      </a:lt2>
      <a:accent1>
        <a:srgbClr val="0F3460"/>
      </a:accent1>
      <a:accent2>
        <a:srgbClr val="00B4D8"/>
      </a:accent2>
      <a:accent3>
        <a:srgbClr val="48CAE4"/>
      </a:accent3>
      <a:accent4>
        <a:srgbClr val="90E0EF"/>
      </a:accent4>
      <a:accent5>
        <a:srgbClr val="E63946"/>
      </a:accent5>
      <a:accent6>
        <a:srgbClr val="2EC4B6"/>
      </a:accent6>
      <a:hlink>
        <a:srgbClr val="00B4D8"/>
      </a:hlink>
      <a:folHlink>
        <a:srgbClr val="48CAE4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1191</Words>
  <Application>Microsoft Office PowerPoint</Application>
  <PresentationFormat>Widescreen</PresentationFormat>
  <Paragraphs>246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Sougrinoma Anifatou CONGO</dc:creator>
  <cp:lastModifiedBy>Sougrinoma Anifatou CONGO</cp:lastModifiedBy>
  <cp:revision>6</cp:revision>
  <dcterms:created xsi:type="dcterms:W3CDTF">2026-03-10T11:46:13Z</dcterms:created>
  <dcterms:modified xsi:type="dcterms:W3CDTF">2026-03-12T21:20:55Z</dcterms:modified>
</cp:coreProperties>
</file>